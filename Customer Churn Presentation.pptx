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6BDDE3DF-24B7-4F7E-AC11-B895CAE0FD7D}" type="datetimeFigureOut">
              <a:rPr lang="en-IN" smtClean="0"/>
              <a:t>19-03-2026</a:t>
            </a:fld>
            <a:endParaRPr lang="en-IN"/>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N"/>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5E09DBFD-88A4-4F27-9FFA-8F78B63F96C8}" type="slidenum">
              <a:rPr lang="en-IN" smtClean="0"/>
              <a:t>‹#›</a:t>
            </a:fld>
            <a:endParaRPr lang="en-IN"/>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2432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DDE3DF-24B7-4F7E-AC11-B895CAE0FD7D}"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09DBFD-88A4-4F27-9FFA-8F78B63F96C8}" type="slidenum">
              <a:rPr lang="en-IN" smtClean="0"/>
              <a:t>‹#›</a:t>
            </a:fld>
            <a:endParaRPr lang="en-IN"/>
          </a:p>
        </p:txBody>
      </p:sp>
    </p:spTree>
    <p:extLst>
      <p:ext uri="{BB962C8B-B14F-4D97-AF65-F5344CB8AC3E}">
        <p14:creationId xmlns:p14="http://schemas.microsoft.com/office/powerpoint/2010/main" val="2477226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DDE3DF-24B7-4F7E-AC11-B895CAE0FD7D}"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09DBFD-88A4-4F27-9FFA-8F78B63F96C8}" type="slidenum">
              <a:rPr lang="en-IN" smtClean="0"/>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6608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BDDE3DF-24B7-4F7E-AC11-B895CAE0FD7D}"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09DBFD-88A4-4F27-9FFA-8F78B63F96C8}" type="slidenum">
              <a:rPr lang="en-IN" smtClean="0"/>
              <a:t>‹#›</a:t>
            </a:fld>
            <a:endParaRPr lang="en-IN"/>
          </a:p>
        </p:txBody>
      </p:sp>
    </p:spTree>
    <p:extLst>
      <p:ext uri="{BB962C8B-B14F-4D97-AF65-F5344CB8AC3E}">
        <p14:creationId xmlns:p14="http://schemas.microsoft.com/office/powerpoint/2010/main" val="543719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DDE3DF-24B7-4F7E-AC11-B895CAE0FD7D}" type="datetimeFigureOut">
              <a:rPr lang="en-IN" smtClean="0"/>
              <a:t>19-03-2026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E09DBFD-88A4-4F27-9FFA-8F78B63F96C8}" type="slidenum">
              <a:rPr lang="en-IN" smtClean="0"/>
              <a:t>‹#›</a:t>
            </a:fld>
            <a:endParaRPr lang="en-IN"/>
          </a:p>
        </p:txBody>
      </p:sp>
    </p:spTree>
    <p:extLst>
      <p:ext uri="{BB962C8B-B14F-4D97-AF65-F5344CB8AC3E}">
        <p14:creationId xmlns:p14="http://schemas.microsoft.com/office/powerpoint/2010/main" val="3833671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DDE3DF-24B7-4F7E-AC11-B895CAE0FD7D}" type="datetimeFigureOut">
              <a:rPr lang="en-IN" smtClean="0"/>
              <a:t>19-03-2026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E09DBFD-88A4-4F27-9FFA-8F78B63F96C8}" type="slidenum">
              <a:rPr lang="en-IN" smtClean="0"/>
              <a:t>‹#›</a:t>
            </a:fld>
            <a:endParaRPr lang="en-IN"/>
          </a:p>
        </p:txBody>
      </p:sp>
    </p:spTree>
    <p:extLst>
      <p:ext uri="{BB962C8B-B14F-4D97-AF65-F5344CB8AC3E}">
        <p14:creationId xmlns:p14="http://schemas.microsoft.com/office/powerpoint/2010/main" val="3314179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DDE3DF-24B7-4F7E-AC11-B895CAE0FD7D}" type="datetimeFigureOut">
              <a:rPr lang="en-IN" smtClean="0"/>
              <a:t>19-03-2026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E09DBFD-88A4-4F27-9FFA-8F78B63F96C8}" type="slidenum">
              <a:rPr lang="en-IN" smtClean="0"/>
              <a:t>‹#›</a:t>
            </a:fld>
            <a:endParaRPr lang="en-IN"/>
          </a:p>
        </p:txBody>
      </p:sp>
    </p:spTree>
    <p:extLst>
      <p:ext uri="{BB962C8B-B14F-4D97-AF65-F5344CB8AC3E}">
        <p14:creationId xmlns:p14="http://schemas.microsoft.com/office/powerpoint/2010/main" val="2248384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DDE3DF-24B7-4F7E-AC11-B895CAE0FD7D}"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09DBFD-88A4-4F27-9FFA-8F78B63F96C8}" type="slidenum">
              <a:rPr lang="en-IN" smtClean="0"/>
              <a:t>‹#›</a:t>
            </a:fld>
            <a:endParaRPr lang="en-IN"/>
          </a:p>
        </p:txBody>
      </p:sp>
    </p:spTree>
    <p:extLst>
      <p:ext uri="{BB962C8B-B14F-4D97-AF65-F5344CB8AC3E}">
        <p14:creationId xmlns:p14="http://schemas.microsoft.com/office/powerpoint/2010/main" val="3560760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DDE3DF-24B7-4F7E-AC11-B895CAE0FD7D}"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09DBFD-88A4-4F27-9FFA-8F78B63F96C8}" type="slidenum">
              <a:rPr lang="en-IN" smtClean="0"/>
              <a:t>‹#›</a:t>
            </a:fld>
            <a:endParaRPr lang="en-IN"/>
          </a:p>
        </p:txBody>
      </p:sp>
    </p:spTree>
    <p:extLst>
      <p:ext uri="{BB962C8B-B14F-4D97-AF65-F5344CB8AC3E}">
        <p14:creationId xmlns:p14="http://schemas.microsoft.com/office/powerpoint/2010/main" val="1500467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DDE3DF-24B7-4F7E-AC11-B895CAE0FD7D}"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09DBFD-88A4-4F27-9FFA-8F78B63F96C8}" type="slidenum">
              <a:rPr lang="en-IN" smtClean="0"/>
              <a:t>‹#›</a:t>
            </a:fld>
            <a:endParaRPr lang="en-IN"/>
          </a:p>
        </p:txBody>
      </p:sp>
    </p:spTree>
    <p:extLst>
      <p:ext uri="{BB962C8B-B14F-4D97-AF65-F5344CB8AC3E}">
        <p14:creationId xmlns:p14="http://schemas.microsoft.com/office/powerpoint/2010/main" val="292496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DDE3DF-24B7-4F7E-AC11-B895CAE0FD7D}"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09DBFD-88A4-4F27-9FFA-8F78B63F96C8}" type="slidenum">
              <a:rPr lang="en-IN" smtClean="0"/>
              <a:t>‹#›</a:t>
            </a:fld>
            <a:endParaRPr lang="en-IN"/>
          </a:p>
        </p:txBody>
      </p:sp>
    </p:spTree>
    <p:extLst>
      <p:ext uri="{BB962C8B-B14F-4D97-AF65-F5344CB8AC3E}">
        <p14:creationId xmlns:p14="http://schemas.microsoft.com/office/powerpoint/2010/main" val="754973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6BDDE3DF-24B7-4F7E-AC11-B895CAE0FD7D}" type="datetimeFigureOut">
              <a:rPr lang="en-IN" smtClean="0"/>
              <a:t>19-03-2026</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5E09DBFD-88A4-4F27-9FFA-8F78B63F96C8}" type="slidenum">
              <a:rPr lang="en-IN" smtClean="0"/>
              <a:t>‹#›</a:t>
            </a:fld>
            <a:endParaRPr lang="en-IN"/>
          </a:p>
        </p:txBody>
      </p:sp>
    </p:spTree>
    <p:extLst>
      <p:ext uri="{BB962C8B-B14F-4D97-AF65-F5344CB8AC3E}">
        <p14:creationId xmlns:p14="http://schemas.microsoft.com/office/powerpoint/2010/main" val="13453671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9E137B-0341-5D3B-667F-DACDB4D3D48D}"/>
              </a:ext>
            </a:extLst>
          </p:cNvPr>
          <p:cNvCxnSpPr>
            <a:cxnSpLocks/>
          </p:cNvCxnSpPr>
          <p:nvPr/>
        </p:nvCxnSpPr>
        <p:spPr>
          <a:xfrm>
            <a:off x="339365" y="914399"/>
            <a:ext cx="11475562"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8F481A7-A444-24D1-D7D7-9E766F666713}"/>
              </a:ext>
            </a:extLst>
          </p:cNvPr>
          <p:cNvSpPr txBox="1"/>
          <p:nvPr/>
        </p:nvSpPr>
        <p:spPr>
          <a:xfrm>
            <a:off x="358219" y="372735"/>
            <a:ext cx="6457360" cy="461665"/>
          </a:xfrm>
          <a:prstGeom prst="rect">
            <a:avLst/>
          </a:prstGeom>
          <a:noFill/>
        </p:spPr>
        <p:txBody>
          <a:bodyPr wrap="square" rtlCol="0">
            <a:spAutoFit/>
          </a:bodyPr>
          <a:lstStyle/>
          <a:p>
            <a:r>
              <a:rPr lang="en-IN" sz="2400" b="1" dirty="0">
                <a:solidFill>
                  <a:srgbClr val="FF0000"/>
                </a:solidFill>
              </a:rPr>
              <a:t>Business Problem Understanding</a:t>
            </a:r>
          </a:p>
        </p:txBody>
      </p:sp>
      <p:sp>
        <p:nvSpPr>
          <p:cNvPr id="2" name="TextBox 1">
            <a:extLst>
              <a:ext uri="{FF2B5EF4-FFF2-40B4-BE49-F238E27FC236}">
                <a16:creationId xmlns:a16="http://schemas.microsoft.com/office/drawing/2014/main" id="{5CCC75FD-6A37-A207-42AB-8D461F5B64F3}"/>
              </a:ext>
            </a:extLst>
          </p:cNvPr>
          <p:cNvSpPr txBox="1"/>
          <p:nvPr/>
        </p:nvSpPr>
        <p:spPr>
          <a:xfrm>
            <a:off x="358219" y="1286632"/>
            <a:ext cx="11475562" cy="4755148"/>
          </a:xfrm>
          <a:prstGeom prst="rect">
            <a:avLst/>
          </a:prstGeom>
          <a:noFill/>
        </p:spPr>
        <p:txBody>
          <a:bodyPr wrap="square" rtlCol="0">
            <a:spAutoFit/>
          </a:bodyPr>
          <a:lstStyle/>
          <a:p>
            <a:r>
              <a:rPr lang="en-IN" sz="1600" b="1" dirty="0"/>
              <a:t>Problem Statement:</a:t>
            </a:r>
          </a:p>
          <a:p>
            <a:endParaRPr lang="en-IN" sz="1400" b="1" dirty="0"/>
          </a:p>
          <a:p>
            <a:r>
              <a:rPr lang="en-IN" sz="1600" dirty="0">
                <a:solidFill>
                  <a:srgbClr val="4472C4"/>
                </a:solidFill>
                <a:effectLst/>
                <a:latin typeface="Times New Roman" panose="02020603050405020304" pitchFamily="18" charset="0"/>
                <a:ea typeface="Calibri" panose="020F0502020204030204" pitchFamily="34" charset="0"/>
              </a:rPr>
              <a:t>An E Commerce company or DTH (you can choose either of these two domains) provider is facing a lot of competition in the current market and it has become a challenge to retain the existing customers in the current situation. Hence, the company wants to develop a model through which they can do churn prediction of the accounts and provide segmented offers to the potential churners.</a:t>
            </a:r>
          </a:p>
          <a:p>
            <a:endParaRPr lang="en-IN" sz="1400" b="1" dirty="0">
              <a:solidFill>
                <a:srgbClr val="4472C4"/>
              </a:solidFill>
              <a:latin typeface="Times New Roman" panose="02020603050405020304" pitchFamily="18" charset="0"/>
            </a:endParaRPr>
          </a:p>
          <a:p>
            <a:endParaRPr lang="en-IN" sz="1400" b="1" dirty="0">
              <a:solidFill>
                <a:srgbClr val="4472C4"/>
              </a:solidFill>
              <a:latin typeface="Times New Roman" panose="02020603050405020304" pitchFamily="18" charset="0"/>
            </a:endParaRPr>
          </a:p>
          <a:p>
            <a:r>
              <a:rPr lang="en-IN" sz="1600" b="1" dirty="0"/>
              <a:t>Need of Study/Project:</a:t>
            </a:r>
          </a:p>
          <a:p>
            <a:endParaRPr lang="en-IN" sz="1400" b="1" dirty="0">
              <a:latin typeface="Times New Roman" panose="02020603050405020304" pitchFamily="18" charset="0"/>
            </a:endParaRPr>
          </a:p>
          <a:p>
            <a:r>
              <a:rPr lang="en-IN" sz="1600" dirty="0">
                <a:solidFill>
                  <a:srgbClr val="4472C4"/>
                </a:solidFill>
                <a:latin typeface="Times New Roman" panose="02020603050405020304" pitchFamily="18" charset="0"/>
              </a:rPr>
              <a:t>The amount of paying customers that fail to become repeat customers is known as customer churn. Churn prediction means detecting which customers are likely to leave a service or to cancel a subscription to a service. This project aims to find out the reasons for customer churning and trying to predict which customers in future might churn. All this study combined will help in bringing down the attrition rate.</a:t>
            </a:r>
          </a:p>
          <a:p>
            <a:endParaRPr lang="en-IN" sz="1400" dirty="0">
              <a:solidFill>
                <a:srgbClr val="4472C4"/>
              </a:solidFill>
              <a:latin typeface="Times New Roman" panose="02020603050405020304" pitchFamily="18" charset="0"/>
            </a:endParaRPr>
          </a:p>
          <a:p>
            <a:endParaRPr lang="en-IN" sz="1400" dirty="0">
              <a:solidFill>
                <a:srgbClr val="4472C4"/>
              </a:solidFill>
              <a:latin typeface="Times New Roman" panose="02020603050405020304" pitchFamily="18" charset="0"/>
            </a:endParaRPr>
          </a:p>
          <a:p>
            <a:r>
              <a:rPr lang="en-IN" sz="1600" b="1" dirty="0"/>
              <a:t>Understanding Business /Social Opportunity:</a:t>
            </a:r>
          </a:p>
          <a:p>
            <a:endParaRPr lang="en-IN" sz="1600" b="1" dirty="0"/>
          </a:p>
          <a:p>
            <a:r>
              <a:rPr lang="en-IN" sz="1600" dirty="0">
                <a:solidFill>
                  <a:srgbClr val="4472C4"/>
                </a:solidFill>
                <a:latin typeface="Times New Roman" panose="02020603050405020304" pitchFamily="18" charset="0"/>
              </a:rPr>
              <a:t>This project analyses the trends and causes of customer churn through data mining algorithms and gives the answers to such questions as how the customer churn occurs, the influencing factors of customer churn, and how enterprises win back churned customers.</a:t>
            </a:r>
          </a:p>
          <a:p>
            <a:endParaRPr lang="en-IN" sz="1100" b="1" dirty="0"/>
          </a:p>
        </p:txBody>
      </p:sp>
    </p:spTree>
    <p:extLst>
      <p:ext uri="{BB962C8B-B14F-4D97-AF65-F5344CB8AC3E}">
        <p14:creationId xmlns:p14="http://schemas.microsoft.com/office/powerpoint/2010/main" val="748267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9E137B-0341-5D3B-667F-DACDB4D3D48D}"/>
              </a:ext>
            </a:extLst>
          </p:cNvPr>
          <p:cNvCxnSpPr>
            <a:cxnSpLocks/>
          </p:cNvCxnSpPr>
          <p:nvPr/>
        </p:nvCxnSpPr>
        <p:spPr>
          <a:xfrm>
            <a:off x="339365" y="914399"/>
            <a:ext cx="11475562"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8F481A7-A444-24D1-D7D7-9E766F666713}"/>
              </a:ext>
            </a:extLst>
          </p:cNvPr>
          <p:cNvSpPr txBox="1"/>
          <p:nvPr/>
        </p:nvSpPr>
        <p:spPr>
          <a:xfrm>
            <a:off x="358219" y="372735"/>
            <a:ext cx="6457360" cy="461665"/>
          </a:xfrm>
          <a:prstGeom prst="rect">
            <a:avLst/>
          </a:prstGeom>
          <a:noFill/>
        </p:spPr>
        <p:txBody>
          <a:bodyPr wrap="square" rtlCol="0">
            <a:spAutoFit/>
          </a:bodyPr>
          <a:lstStyle/>
          <a:p>
            <a:r>
              <a:rPr lang="en-IN" sz="2400" b="1" dirty="0">
                <a:solidFill>
                  <a:srgbClr val="FF0000"/>
                </a:solidFill>
              </a:rPr>
              <a:t>Data Summary</a:t>
            </a:r>
          </a:p>
        </p:txBody>
      </p:sp>
      <p:sp>
        <p:nvSpPr>
          <p:cNvPr id="3" name="TextBox 2">
            <a:extLst>
              <a:ext uri="{FF2B5EF4-FFF2-40B4-BE49-F238E27FC236}">
                <a16:creationId xmlns:a16="http://schemas.microsoft.com/office/drawing/2014/main" id="{04876255-30E0-54B2-5DE8-CB7B950C859E}"/>
              </a:ext>
            </a:extLst>
          </p:cNvPr>
          <p:cNvSpPr txBox="1"/>
          <p:nvPr/>
        </p:nvSpPr>
        <p:spPr>
          <a:xfrm>
            <a:off x="339365" y="1130405"/>
            <a:ext cx="1847654" cy="338554"/>
          </a:xfrm>
          <a:prstGeom prst="rect">
            <a:avLst/>
          </a:prstGeom>
          <a:noFill/>
        </p:spPr>
        <p:txBody>
          <a:bodyPr wrap="square" rtlCol="0">
            <a:spAutoFit/>
          </a:bodyPr>
          <a:lstStyle/>
          <a:p>
            <a:r>
              <a:rPr lang="en-IN" sz="1600" dirty="0"/>
              <a:t>Data Shape:</a:t>
            </a:r>
          </a:p>
        </p:txBody>
      </p:sp>
      <p:pic>
        <p:nvPicPr>
          <p:cNvPr id="8" name="Picture 7">
            <a:extLst>
              <a:ext uri="{FF2B5EF4-FFF2-40B4-BE49-F238E27FC236}">
                <a16:creationId xmlns:a16="http://schemas.microsoft.com/office/drawing/2014/main" id="{1EA6706E-49EB-624F-0652-2B60FFB765ED}"/>
              </a:ext>
            </a:extLst>
          </p:cNvPr>
          <p:cNvPicPr>
            <a:picLocks noChangeAspect="1"/>
          </p:cNvPicPr>
          <p:nvPr/>
        </p:nvPicPr>
        <p:blipFill>
          <a:blip r:embed="rId2"/>
          <a:stretch>
            <a:fillRect/>
          </a:stretch>
        </p:blipFill>
        <p:spPr>
          <a:xfrm>
            <a:off x="1869372" y="1130405"/>
            <a:ext cx="3013710" cy="556990"/>
          </a:xfrm>
          <a:prstGeom prst="rect">
            <a:avLst/>
          </a:prstGeom>
          <a:ln>
            <a:solidFill>
              <a:schemeClr val="tx1"/>
            </a:solidFill>
          </a:ln>
        </p:spPr>
      </p:pic>
      <p:pic>
        <p:nvPicPr>
          <p:cNvPr id="10" name="Picture 9">
            <a:extLst>
              <a:ext uri="{FF2B5EF4-FFF2-40B4-BE49-F238E27FC236}">
                <a16:creationId xmlns:a16="http://schemas.microsoft.com/office/drawing/2014/main" id="{E18DA88B-9170-6D93-2513-7CB77DBDDDD2}"/>
              </a:ext>
            </a:extLst>
          </p:cNvPr>
          <p:cNvPicPr>
            <a:picLocks noChangeAspect="1"/>
          </p:cNvPicPr>
          <p:nvPr/>
        </p:nvPicPr>
        <p:blipFill>
          <a:blip r:embed="rId3"/>
          <a:stretch>
            <a:fillRect/>
          </a:stretch>
        </p:blipFill>
        <p:spPr>
          <a:xfrm>
            <a:off x="1869372" y="2263193"/>
            <a:ext cx="4138367" cy="4201377"/>
          </a:xfrm>
          <a:prstGeom prst="rect">
            <a:avLst/>
          </a:prstGeom>
          <a:ln>
            <a:solidFill>
              <a:schemeClr val="tx1"/>
            </a:solidFill>
          </a:ln>
        </p:spPr>
      </p:pic>
      <p:sp>
        <p:nvSpPr>
          <p:cNvPr id="11" name="TextBox 10">
            <a:extLst>
              <a:ext uri="{FF2B5EF4-FFF2-40B4-BE49-F238E27FC236}">
                <a16:creationId xmlns:a16="http://schemas.microsoft.com/office/drawing/2014/main" id="{8AAFDE8B-EA42-30A6-10CA-FAD6011DD8F0}"/>
              </a:ext>
            </a:extLst>
          </p:cNvPr>
          <p:cNvSpPr txBox="1"/>
          <p:nvPr/>
        </p:nvSpPr>
        <p:spPr>
          <a:xfrm>
            <a:off x="358219" y="2263193"/>
            <a:ext cx="1847654" cy="338554"/>
          </a:xfrm>
          <a:prstGeom prst="rect">
            <a:avLst/>
          </a:prstGeom>
          <a:noFill/>
        </p:spPr>
        <p:txBody>
          <a:bodyPr wrap="square" rtlCol="0">
            <a:spAutoFit/>
          </a:bodyPr>
          <a:lstStyle/>
          <a:p>
            <a:r>
              <a:rPr lang="en-IN" sz="1600" dirty="0"/>
              <a:t>Data Info:</a:t>
            </a:r>
          </a:p>
        </p:txBody>
      </p:sp>
      <p:sp>
        <p:nvSpPr>
          <p:cNvPr id="4" name="TextBox 3">
            <a:extLst>
              <a:ext uri="{FF2B5EF4-FFF2-40B4-BE49-F238E27FC236}">
                <a16:creationId xmlns:a16="http://schemas.microsoft.com/office/drawing/2014/main" id="{1FFEE38D-CCD5-F8C7-C4BC-715C6B2F7403}"/>
              </a:ext>
            </a:extLst>
          </p:cNvPr>
          <p:cNvSpPr txBox="1"/>
          <p:nvPr/>
        </p:nvSpPr>
        <p:spPr>
          <a:xfrm>
            <a:off x="6413089" y="1687395"/>
            <a:ext cx="5338713" cy="2554545"/>
          </a:xfrm>
          <a:prstGeom prst="rect">
            <a:avLst/>
          </a:prstGeom>
          <a:noFill/>
        </p:spPr>
        <p:txBody>
          <a:bodyPr wrap="square" rtlCol="0">
            <a:spAutoFit/>
          </a:bodyPr>
          <a:lstStyle/>
          <a:p>
            <a:r>
              <a:rPr lang="en-IN" sz="1600" dirty="0">
                <a:solidFill>
                  <a:srgbClr val="4472C4"/>
                </a:solidFill>
                <a:latin typeface="Times New Roman" panose="02020603050405020304" pitchFamily="18" charset="0"/>
              </a:rPr>
              <a:t>There are 11260 rows in the dataset whereas 19 different columns.</a:t>
            </a:r>
          </a:p>
          <a:p>
            <a:endParaRPr lang="en-IN" sz="1600" dirty="0">
              <a:solidFill>
                <a:srgbClr val="4472C4"/>
              </a:solidFill>
              <a:latin typeface="Times New Roman" panose="02020603050405020304" pitchFamily="18" charset="0"/>
            </a:endParaRPr>
          </a:p>
          <a:p>
            <a:r>
              <a:rPr lang="en-IN" sz="1600" dirty="0">
                <a:solidFill>
                  <a:srgbClr val="4472C4"/>
                </a:solidFill>
                <a:latin typeface="Times New Roman" panose="02020603050405020304" pitchFamily="18" charset="0"/>
              </a:rPr>
              <a:t>Out of these 19 columns which are mentioned in data info, 5 are floating type, 2 are integer type and remaining 12 are string type.</a:t>
            </a:r>
          </a:p>
          <a:p>
            <a:endParaRPr lang="en-IN" sz="1600" dirty="0">
              <a:solidFill>
                <a:srgbClr val="4472C4"/>
              </a:solidFill>
              <a:latin typeface="Times New Roman" panose="02020603050405020304" pitchFamily="18" charset="0"/>
            </a:endParaRPr>
          </a:p>
          <a:p>
            <a:r>
              <a:rPr lang="en-IN" sz="1600" dirty="0">
                <a:solidFill>
                  <a:srgbClr val="4472C4"/>
                </a:solidFill>
                <a:latin typeface="Times New Roman" panose="02020603050405020304" pitchFamily="18" charset="0"/>
              </a:rPr>
              <a:t>We can also see that there are missing values in a number of variables. These missing values have to be treated as well in our study.</a:t>
            </a:r>
          </a:p>
        </p:txBody>
      </p:sp>
    </p:spTree>
    <p:extLst>
      <p:ext uri="{BB962C8B-B14F-4D97-AF65-F5344CB8AC3E}">
        <p14:creationId xmlns:p14="http://schemas.microsoft.com/office/powerpoint/2010/main" val="2016194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9E137B-0341-5D3B-667F-DACDB4D3D48D}"/>
              </a:ext>
            </a:extLst>
          </p:cNvPr>
          <p:cNvCxnSpPr>
            <a:cxnSpLocks/>
          </p:cNvCxnSpPr>
          <p:nvPr/>
        </p:nvCxnSpPr>
        <p:spPr>
          <a:xfrm>
            <a:off x="339365" y="914399"/>
            <a:ext cx="11475562"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8F481A7-A444-24D1-D7D7-9E766F666713}"/>
              </a:ext>
            </a:extLst>
          </p:cNvPr>
          <p:cNvSpPr txBox="1"/>
          <p:nvPr/>
        </p:nvSpPr>
        <p:spPr>
          <a:xfrm>
            <a:off x="358219" y="372735"/>
            <a:ext cx="6457360" cy="461665"/>
          </a:xfrm>
          <a:prstGeom prst="rect">
            <a:avLst/>
          </a:prstGeom>
          <a:noFill/>
        </p:spPr>
        <p:txBody>
          <a:bodyPr wrap="square" rtlCol="0">
            <a:spAutoFit/>
          </a:bodyPr>
          <a:lstStyle/>
          <a:p>
            <a:r>
              <a:rPr lang="en-IN" sz="2400" b="1" dirty="0">
                <a:solidFill>
                  <a:srgbClr val="FF0000"/>
                </a:solidFill>
              </a:rPr>
              <a:t>Data Cleaning</a:t>
            </a:r>
          </a:p>
        </p:txBody>
      </p:sp>
      <p:sp>
        <p:nvSpPr>
          <p:cNvPr id="3" name="TextBox 2">
            <a:extLst>
              <a:ext uri="{FF2B5EF4-FFF2-40B4-BE49-F238E27FC236}">
                <a16:creationId xmlns:a16="http://schemas.microsoft.com/office/drawing/2014/main" id="{04876255-30E0-54B2-5DE8-CB7B950C859E}"/>
              </a:ext>
            </a:extLst>
          </p:cNvPr>
          <p:cNvSpPr txBox="1"/>
          <p:nvPr/>
        </p:nvSpPr>
        <p:spPr>
          <a:xfrm>
            <a:off x="339364" y="1281236"/>
            <a:ext cx="3269531" cy="3600986"/>
          </a:xfrm>
          <a:prstGeom prst="rect">
            <a:avLst/>
          </a:prstGeom>
          <a:noFill/>
        </p:spPr>
        <p:txBody>
          <a:bodyPr wrap="square" rtlCol="0">
            <a:spAutoFit/>
          </a:bodyPr>
          <a:lstStyle/>
          <a:p>
            <a:r>
              <a:rPr lang="en-IN" sz="1600" dirty="0"/>
              <a:t>Initial Cleaning of Data:</a:t>
            </a:r>
          </a:p>
          <a:p>
            <a:endParaRPr lang="en-IN" sz="1600" dirty="0"/>
          </a:p>
          <a:p>
            <a:r>
              <a:rPr lang="en-IN" sz="1400" dirty="0">
                <a:solidFill>
                  <a:srgbClr val="4472C4"/>
                </a:solidFill>
                <a:latin typeface="Times New Roman" panose="02020603050405020304" pitchFamily="18" charset="0"/>
              </a:rPr>
              <a:t>Almost all of the variables in the dataset are having incorrect entries. </a:t>
            </a:r>
          </a:p>
          <a:p>
            <a:endParaRPr lang="en-IN" sz="1400" dirty="0">
              <a:solidFill>
                <a:srgbClr val="4472C4"/>
              </a:solidFill>
              <a:latin typeface="Times New Roman" panose="02020603050405020304" pitchFamily="18" charset="0"/>
            </a:endParaRPr>
          </a:p>
          <a:p>
            <a:r>
              <a:rPr lang="en-IN" sz="1400" dirty="0">
                <a:solidFill>
                  <a:srgbClr val="4472C4"/>
                </a:solidFill>
                <a:latin typeface="Times New Roman" panose="02020603050405020304" pitchFamily="18" charset="0"/>
              </a:rPr>
              <a:t>For example, the variable ‘Tenure’ has a ‘#’ as an entry and its data type is marked as Object. The variable ‘Gender’ has both ‘F’ and ‘Female’ as a gender.</a:t>
            </a:r>
          </a:p>
          <a:p>
            <a:endParaRPr lang="en-IN" sz="1400" dirty="0">
              <a:solidFill>
                <a:srgbClr val="4472C4"/>
              </a:solidFill>
              <a:latin typeface="Times New Roman" panose="02020603050405020304" pitchFamily="18" charset="0"/>
            </a:endParaRPr>
          </a:p>
          <a:p>
            <a:r>
              <a:rPr lang="en-IN" sz="1400" dirty="0">
                <a:solidFill>
                  <a:srgbClr val="4472C4"/>
                </a:solidFill>
                <a:latin typeface="Times New Roman" panose="02020603050405020304" pitchFamily="18" charset="0"/>
              </a:rPr>
              <a:t>All these entries need to be corrected and the variables need to be aligned to their correct data type as well.</a:t>
            </a:r>
          </a:p>
          <a:p>
            <a:endParaRPr lang="en-IN" sz="1400" dirty="0">
              <a:solidFill>
                <a:srgbClr val="4472C4"/>
              </a:solidFill>
              <a:latin typeface="Times New Roman" panose="02020603050405020304" pitchFamily="18" charset="0"/>
            </a:endParaRPr>
          </a:p>
          <a:p>
            <a:r>
              <a:rPr lang="en-IN" sz="1400" dirty="0">
                <a:solidFill>
                  <a:srgbClr val="4472C4"/>
                </a:solidFill>
                <a:latin typeface="Times New Roman" panose="02020603050405020304" pitchFamily="18" charset="0"/>
              </a:rPr>
              <a:t>Like, ‘Tenure’ needs to be corrected to Int or Float type after correction.</a:t>
            </a:r>
          </a:p>
        </p:txBody>
      </p:sp>
      <p:cxnSp>
        <p:nvCxnSpPr>
          <p:cNvPr id="12" name="Straight Connector 11">
            <a:extLst>
              <a:ext uri="{FF2B5EF4-FFF2-40B4-BE49-F238E27FC236}">
                <a16:creationId xmlns:a16="http://schemas.microsoft.com/office/drawing/2014/main" id="{85757A72-C3DE-4872-43FE-E2B3AAEFA295}"/>
              </a:ext>
            </a:extLst>
          </p:cNvPr>
          <p:cNvCxnSpPr>
            <a:cxnSpLocks/>
          </p:cNvCxnSpPr>
          <p:nvPr/>
        </p:nvCxnSpPr>
        <p:spPr>
          <a:xfrm>
            <a:off x="3883844" y="1066799"/>
            <a:ext cx="0" cy="5437696"/>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13" name="TextBox 12">
            <a:extLst>
              <a:ext uri="{FF2B5EF4-FFF2-40B4-BE49-F238E27FC236}">
                <a16:creationId xmlns:a16="http://schemas.microsoft.com/office/drawing/2014/main" id="{5E6E450B-7870-EFF4-AE94-4EFEA3A6F5D3}"/>
              </a:ext>
            </a:extLst>
          </p:cNvPr>
          <p:cNvSpPr txBox="1"/>
          <p:nvPr/>
        </p:nvSpPr>
        <p:spPr>
          <a:xfrm>
            <a:off x="4158792" y="1281236"/>
            <a:ext cx="3157979" cy="338554"/>
          </a:xfrm>
          <a:prstGeom prst="rect">
            <a:avLst/>
          </a:prstGeom>
          <a:noFill/>
        </p:spPr>
        <p:txBody>
          <a:bodyPr wrap="square" rtlCol="0">
            <a:spAutoFit/>
          </a:bodyPr>
          <a:lstStyle/>
          <a:p>
            <a:r>
              <a:rPr lang="en-IN" sz="1600" dirty="0"/>
              <a:t>Missing Value Treatment:</a:t>
            </a:r>
          </a:p>
        </p:txBody>
      </p:sp>
      <p:pic>
        <p:nvPicPr>
          <p:cNvPr id="14" name="Picture 13">
            <a:extLst>
              <a:ext uri="{FF2B5EF4-FFF2-40B4-BE49-F238E27FC236}">
                <a16:creationId xmlns:a16="http://schemas.microsoft.com/office/drawing/2014/main" id="{16C0912A-DA9F-27CD-506D-F217C8F0AD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8792" y="1731999"/>
            <a:ext cx="2324100" cy="2425222"/>
          </a:xfrm>
          <a:prstGeom prst="rect">
            <a:avLst/>
          </a:prstGeom>
          <a:ln>
            <a:solidFill>
              <a:schemeClr val="tx1"/>
            </a:solidFill>
          </a:ln>
        </p:spPr>
      </p:pic>
      <p:sp>
        <p:nvSpPr>
          <p:cNvPr id="15" name="TextBox 14">
            <a:extLst>
              <a:ext uri="{FF2B5EF4-FFF2-40B4-BE49-F238E27FC236}">
                <a16:creationId xmlns:a16="http://schemas.microsoft.com/office/drawing/2014/main" id="{144C11A4-C663-3B1B-3D7C-33B8E8DBAB98}"/>
              </a:ext>
            </a:extLst>
          </p:cNvPr>
          <p:cNvSpPr txBox="1"/>
          <p:nvPr/>
        </p:nvSpPr>
        <p:spPr>
          <a:xfrm>
            <a:off x="4158792" y="4294408"/>
            <a:ext cx="3693738" cy="2078967"/>
          </a:xfrm>
          <a:prstGeom prst="rect">
            <a:avLst/>
          </a:prstGeom>
          <a:noFill/>
        </p:spPr>
        <p:txBody>
          <a:bodyPr wrap="square" rtlCol="0">
            <a:spAutoFit/>
          </a:bodyPr>
          <a:lstStyle/>
          <a:p>
            <a:pPr>
              <a:lnSpc>
                <a:spcPct val="107000"/>
              </a:lnSpc>
              <a:spcBef>
                <a:spcPts val="600"/>
              </a:spcBef>
              <a:spcAft>
                <a:spcPts val="600"/>
              </a:spcAft>
            </a:pPr>
            <a:r>
              <a:rPr lang="en-IN" sz="1400" dirty="0">
                <a:solidFill>
                  <a:srgbClr val="4472C4"/>
                </a:solidFill>
                <a:latin typeface="Times New Roman" panose="02020603050405020304" pitchFamily="18" charset="0"/>
              </a:rPr>
              <a:t>The missing values in each variable are treated based on whether the variable is a categorical one or a continuous one. </a:t>
            </a:r>
          </a:p>
          <a:p>
            <a:pPr>
              <a:lnSpc>
                <a:spcPct val="107000"/>
              </a:lnSpc>
              <a:spcBef>
                <a:spcPts val="600"/>
              </a:spcBef>
              <a:spcAft>
                <a:spcPts val="600"/>
              </a:spcAft>
            </a:pPr>
            <a:r>
              <a:rPr lang="en-IN" sz="1400" dirty="0">
                <a:solidFill>
                  <a:srgbClr val="4472C4"/>
                </a:solidFill>
                <a:latin typeface="Times New Roman" panose="02020603050405020304" pitchFamily="18" charset="0"/>
              </a:rPr>
              <a:t>For continuous variables, the missing values are imputed with the mean value of the entire field and for categorical variables, we find the mode of all the values of the field and impute the missing values with that.</a:t>
            </a:r>
            <a:endParaRPr lang="en-IN" sz="1600" dirty="0"/>
          </a:p>
        </p:txBody>
      </p:sp>
      <p:cxnSp>
        <p:nvCxnSpPr>
          <p:cNvPr id="16" name="Straight Connector 15">
            <a:extLst>
              <a:ext uri="{FF2B5EF4-FFF2-40B4-BE49-F238E27FC236}">
                <a16:creationId xmlns:a16="http://schemas.microsoft.com/office/drawing/2014/main" id="{52B70AB0-E887-F86A-1C19-F007ABEA00C1}"/>
              </a:ext>
            </a:extLst>
          </p:cNvPr>
          <p:cNvCxnSpPr>
            <a:cxnSpLocks/>
          </p:cNvCxnSpPr>
          <p:nvPr/>
        </p:nvCxnSpPr>
        <p:spPr>
          <a:xfrm>
            <a:off x="7995501" y="1066799"/>
            <a:ext cx="0" cy="5437696"/>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17" name="TextBox 16">
            <a:extLst>
              <a:ext uri="{FF2B5EF4-FFF2-40B4-BE49-F238E27FC236}">
                <a16:creationId xmlns:a16="http://schemas.microsoft.com/office/drawing/2014/main" id="{7BFBFEB7-D145-2A49-900E-3EDC8D4C002A}"/>
              </a:ext>
            </a:extLst>
          </p:cNvPr>
          <p:cNvSpPr txBox="1"/>
          <p:nvPr/>
        </p:nvSpPr>
        <p:spPr>
          <a:xfrm>
            <a:off x="8138473" y="1281236"/>
            <a:ext cx="3157979" cy="1446550"/>
          </a:xfrm>
          <a:prstGeom prst="rect">
            <a:avLst/>
          </a:prstGeom>
          <a:noFill/>
        </p:spPr>
        <p:txBody>
          <a:bodyPr wrap="square" rtlCol="0">
            <a:spAutoFit/>
          </a:bodyPr>
          <a:lstStyle/>
          <a:p>
            <a:r>
              <a:rPr lang="en-IN" sz="1600" dirty="0"/>
              <a:t>Removal of Unwanted Variables:</a:t>
            </a:r>
          </a:p>
          <a:p>
            <a:endParaRPr lang="en-IN" sz="1600" dirty="0"/>
          </a:p>
          <a:p>
            <a:r>
              <a:rPr lang="en-IN" sz="1400" dirty="0">
                <a:solidFill>
                  <a:srgbClr val="4472C4"/>
                </a:solidFill>
                <a:latin typeface="Times New Roman" panose="02020603050405020304" pitchFamily="18" charset="0"/>
              </a:rPr>
              <a:t>‘Account ID’ which is a unique identifier of all accounts has no part in our model building exercise, therefore it should be taken off.</a:t>
            </a:r>
          </a:p>
        </p:txBody>
      </p:sp>
      <p:sp>
        <p:nvSpPr>
          <p:cNvPr id="18" name="TextBox 17">
            <a:extLst>
              <a:ext uri="{FF2B5EF4-FFF2-40B4-BE49-F238E27FC236}">
                <a16:creationId xmlns:a16="http://schemas.microsoft.com/office/drawing/2014/main" id="{8EC7D179-CE4F-F9D0-B4FF-AD8F3E63BBF3}"/>
              </a:ext>
            </a:extLst>
          </p:cNvPr>
          <p:cNvSpPr txBox="1"/>
          <p:nvPr/>
        </p:nvSpPr>
        <p:spPr>
          <a:xfrm>
            <a:off x="8138473" y="3571133"/>
            <a:ext cx="3157979" cy="2522485"/>
          </a:xfrm>
          <a:prstGeom prst="rect">
            <a:avLst/>
          </a:prstGeom>
          <a:noFill/>
        </p:spPr>
        <p:txBody>
          <a:bodyPr wrap="square" rtlCol="0">
            <a:spAutoFit/>
          </a:bodyPr>
          <a:lstStyle/>
          <a:p>
            <a:r>
              <a:rPr lang="en-IN" sz="1600" dirty="0"/>
              <a:t>Duplicate Records:</a:t>
            </a:r>
          </a:p>
          <a:p>
            <a:endParaRPr lang="en-IN" sz="1600" dirty="0"/>
          </a:p>
          <a:p>
            <a:pPr>
              <a:lnSpc>
                <a:spcPct val="107000"/>
              </a:lnSpc>
              <a:spcBef>
                <a:spcPts val="600"/>
              </a:spcBef>
              <a:spcAft>
                <a:spcPts val="600"/>
              </a:spcAft>
            </a:pPr>
            <a:r>
              <a:rPr lang="en-IN" sz="1400" dirty="0">
                <a:solidFill>
                  <a:srgbClr val="4472C4"/>
                </a:solidFill>
                <a:latin typeface="Times New Roman" panose="02020603050405020304" pitchFamily="18" charset="0"/>
              </a:rPr>
              <a:t>Duplicates provide no extra meaning to the dataset; they just take extra processing time for our Machine Learning algorithm.</a:t>
            </a:r>
          </a:p>
          <a:p>
            <a:r>
              <a:rPr lang="en-IN" sz="1400" dirty="0">
                <a:solidFill>
                  <a:srgbClr val="4472C4"/>
                </a:solidFill>
                <a:latin typeface="Times New Roman" panose="02020603050405020304" pitchFamily="18" charset="0"/>
              </a:rPr>
              <a:t>In our dataset, we find out that there are 308 duplicate records. We will be eliminating those as well from our dataset.</a:t>
            </a:r>
          </a:p>
        </p:txBody>
      </p:sp>
    </p:spTree>
    <p:extLst>
      <p:ext uri="{BB962C8B-B14F-4D97-AF65-F5344CB8AC3E}">
        <p14:creationId xmlns:p14="http://schemas.microsoft.com/office/powerpoint/2010/main" val="3227173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9E137B-0341-5D3B-667F-DACDB4D3D48D}"/>
              </a:ext>
            </a:extLst>
          </p:cNvPr>
          <p:cNvCxnSpPr>
            <a:cxnSpLocks/>
          </p:cNvCxnSpPr>
          <p:nvPr/>
        </p:nvCxnSpPr>
        <p:spPr>
          <a:xfrm>
            <a:off x="339365" y="914399"/>
            <a:ext cx="11475562"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8F481A7-A444-24D1-D7D7-9E766F666713}"/>
              </a:ext>
            </a:extLst>
          </p:cNvPr>
          <p:cNvSpPr txBox="1"/>
          <p:nvPr/>
        </p:nvSpPr>
        <p:spPr>
          <a:xfrm>
            <a:off x="358219" y="372735"/>
            <a:ext cx="6457360" cy="461665"/>
          </a:xfrm>
          <a:prstGeom prst="rect">
            <a:avLst/>
          </a:prstGeom>
          <a:noFill/>
        </p:spPr>
        <p:txBody>
          <a:bodyPr wrap="square" rtlCol="0">
            <a:spAutoFit/>
          </a:bodyPr>
          <a:lstStyle/>
          <a:p>
            <a:r>
              <a:rPr lang="en-IN" sz="2400" b="1" dirty="0">
                <a:solidFill>
                  <a:srgbClr val="FF0000"/>
                </a:solidFill>
              </a:rPr>
              <a:t>Exploratory Data Analysis</a:t>
            </a:r>
          </a:p>
        </p:txBody>
      </p:sp>
      <p:sp>
        <p:nvSpPr>
          <p:cNvPr id="3" name="TextBox 2">
            <a:extLst>
              <a:ext uri="{FF2B5EF4-FFF2-40B4-BE49-F238E27FC236}">
                <a16:creationId xmlns:a16="http://schemas.microsoft.com/office/drawing/2014/main" id="{04876255-30E0-54B2-5DE8-CB7B950C859E}"/>
              </a:ext>
            </a:extLst>
          </p:cNvPr>
          <p:cNvSpPr txBox="1"/>
          <p:nvPr/>
        </p:nvSpPr>
        <p:spPr>
          <a:xfrm>
            <a:off x="339364" y="1281236"/>
            <a:ext cx="3269531" cy="338554"/>
          </a:xfrm>
          <a:prstGeom prst="rect">
            <a:avLst/>
          </a:prstGeom>
          <a:noFill/>
        </p:spPr>
        <p:txBody>
          <a:bodyPr wrap="square" rtlCol="0">
            <a:spAutoFit/>
          </a:bodyPr>
          <a:lstStyle/>
          <a:p>
            <a:r>
              <a:rPr lang="en-IN" sz="1600" dirty="0"/>
              <a:t>Target Variable (Churn):</a:t>
            </a:r>
          </a:p>
        </p:txBody>
      </p:sp>
      <p:cxnSp>
        <p:nvCxnSpPr>
          <p:cNvPr id="12" name="Straight Connector 11">
            <a:extLst>
              <a:ext uri="{FF2B5EF4-FFF2-40B4-BE49-F238E27FC236}">
                <a16:creationId xmlns:a16="http://schemas.microsoft.com/office/drawing/2014/main" id="{85757A72-C3DE-4872-43FE-E2B3AAEFA295}"/>
              </a:ext>
            </a:extLst>
          </p:cNvPr>
          <p:cNvCxnSpPr>
            <a:cxnSpLocks/>
          </p:cNvCxnSpPr>
          <p:nvPr/>
        </p:nvCxnSpPr>
        <p:spPr>
          <a:xfrm>
            <a:off x="3883844" y="1066799"/>
            <a:ext cx="0" cy="5437696"/>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13" name="TextBox 12">
            <a:extLst>
              <a:ext uri="{FF2B5EF4-FFF2-40B4-BE49-F238E27FC236}">
                <a16:creationId xmlns:a16="http://schemas.microsoft.com/office/drawing/2014/main" id="{5E6E450B-7870-EFF4-AE94-4EFEA3A6F5D3}"/>
              </a:ext>
            </a:extLst>
          </p:cNvPr>
          <p:cNvSpPr txBox="1"/>
          <p:nvPr/>
        </p:nvSpPr>
        <p:spPr>
          <a:xfrm>
            <a:off x="4366182" y="1281236"/>
            <a:ext cx="3157979" cy="338554"/>
          </a:xfrm>
          <a:prstGeom prst="rect">
            <a:avLst/>
          </a:prstGeom>
          <a:noFill/>
        </p:spPr>
        <p:txBody>
          <a:bodyPr wrap="square" rtlCol="0">
            <a:spAutoFit/>
          </a:bodyPr>
          <a:lstStyle/>
          <a:p>
            <a:r>
              <a:rPr lang="en-IN" sz="1600" dirty="0"/>
              <a:t>Tenure vs Churn:</a:t>
            </a:r>
          </a:p>
        </p:txBody>
      </p:sp>
      <p:sp>
        <p:nvSpPr>
          <p:cNvPr id="15" name="TextBox 14">
            <a:extLst>
              <a:ext uri="{FF2B5EF4-FFF2-40B4-BE49-F238E27FC236}">
                <a16:creationId xmlns:a16="http://schemas.microsoft.com/office/drawing/2014/main" id="{144C11A4-C663-3B1B-3D7C-33B8E8DBAB98}"/>
              </a:ext>
            </a:extLst>
          </p:cNvPr>
          <p:cNvSpPr txBox="1"/>
          <p:nvPr/>
        </p:nvSpPr>
        <p:spPr>
          <a:xfrm>
            <a:off x="4366182" y="4044108"/>
            <a:ext cx="3157976" cy="1229439"/>
          </a:xfrm>
          <a:prstGeom prst="rect">
            <a:avLst/>
          </a:prstGeom>
          <a:noFill/>
        </p:spPr>
        <p:txBody>
          <a:bodyPr wrap="square" rtlCol="0">
            <a:spAutoFit/>
          </a:bodyPr>
          <a:lstStyle/>
          <a:p>
            <a:pPr>
              <a:lnSpc>
                <a:spcPct val="107000"/>
              </a:lnSpc>
              <a:spcBef>
                <a:spcPts val="600"/>
              </a:spcBef>
              <a:spcAft>
                <a:spcPts val="600"/>
              </a:spcAft>
            </a:pPr>
            <a:r>
              <a:rPr lang="en-IN" sz="1400" dirty="0">
                <a:solidFill>
                  <a:srgbClr val="4472C4"/>
                </a:solidFill>
                <a:latin typeface="Times New Roman" panose="02020603050405020304" pitchFamily="18" charset="0"/>
              </a:rPr>
              <a:t>From the adjacent plot, we can infer that the accounts which do not churn have higher Tenure than the ones which churned. So, aim for accounts to have a longer tenure.</a:t>
            </a:r>
          </a:p>
        </p:txBody>
      </p:sp>
      <p:cxnSp>
        <p:nvCxnSpPr>
          <p:cNvPr id="16" name="Straight Connector 15">
            <a:extLst>
              <a:ext uri="{FF2B5EF4-FFF2-40B4-BE49-F238E27FC236}">
                <a16:creationId xmlns:a16="http://schemas.microsoft.com/office/drawing/2014/main" id="{52B70AB0-E887-F86A-1C19-F007ABEA00C1}"/>
              </a:ext>
            </a:extLst>
          </p:cNvPr>
          <p:cNvCxnSpPr>
            <a:cxnSpLocks/>
          </p:cNvCxnSpPr>
          <p:nvPr/>
        </p:nvCxnSpPr>
        <p:spPr>
          <a:xfrm>
            <a:off x="7995501" y="1066799"/>
            <a:ext cx="0" cy="5437696"/>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17" name="TextBox 16">
            <a:extLst>
              <a:ext uri="{FF2B5EF4-FFF2-40B4-BE49-F238E27FC236}">
                <a16:creationId xmlns:a16="http://schemas.microsoft.com/office/drawing/2014/main" id="{7BFBFEB7-D145-2A49-900E-3EDC8D4C002A}"/>
              </a:ext>
            </a:extLst>
          </p:cNvPr>
          <p:cNvSpPr txBox="1"/>
          <p:nvPr/>
        </p:nvSpPr>
        <p:spPr>
          <a:xfrm>
            <a:off x="8138473" y="1281236"/>
            <a:ext cx="3157979" cy="338554"/>
          </a:xfrm>
          <a:prstGeom prst="rect">
            <a:avLst/>
          </a:prstGeom>
          <a:noFill/>
        </p:spPr>
        <p:txBody>
          <a:bodyPr wrap="square" rtlCol="0">
            <a:spAutoFit/>
          </a:bodyPr>
          <a:lstStyle/>
          <a:p>
            <a:r>
              <a:rPr lang="en-IN" sz="1600" dirty="0"/>
              <a:t>Account Segment vs Churn:</a:t>
            </a:r>
          </a:p>
        </p:txBody>
      </p:sp>
      <p:pic>
        <p:nvPicPr>
          <p:cNvPr id="19" name="Picture 18">
            <a:extLst>
              <a:ext uri="{FF2B5EF4-FFF2-40B4-BE49-F238E27FC236}">
                <a16:creationId xmlns:a16="http://schemas.microsoft.com/office/drawing/2014/main" id="{4F53235C-5E71-D08B-5EC4-7D0B278516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745" y="1731999"/>
            <a:ext cx="2881633" cy="2007988"/>
          </a:xfrm>
          <a:prstGeom prst="rect">
            <a:avLst/>
          </a:prstGeom>
          <a:ln>
            <a:solidFill>
              <a:schemeClr val="tx1"/>
            </a:solidFill>
          </a:ln>
        </p:spPr>
      </p:pic>
      <p:sp>
        <p:nvSpPr>
          <p:cNvPr id="2" name="TextBox 1">
            <a:extLst>
              <a:ext uri="{FF2B5EF4-FFF2-40B4-BE49-F238E27FC236}">
                <a16:creationId xmlns:a16="http://schemas.microsoft.com/office/drawing/2014/main" id="{EB28A26A-D59B-45BA-B625-1EDC9C52923A}"/>
              </a:ext>
            </a:extLst>
          </p:cNvPr>
          <p:cNvSpPr txBox="1"/>
          <p:nvPr/>
        </p:nvSpPr>
        <p:spPr>
          <a:xfrm>
            <a:off x="417745" y="3940404"/>
            <a:ext cx="3269528" cy="2246769"/>
          </a:xfrm>
          <a:prstGeom prst="rect">
            <a:avLst/>
          </a:prstGeom>
          <a:noFill/>
        </p:spPr>
        <p:txBody>
          <a:bodyPr wrap="square" rtlCol="0">
            <a:spAutoFit/>
          </a:bodyPr>
          <a:lstStyle/>
          <a:p>
            <a:r>
              <a:rPr lang="en-IN" sz="1400" dirty="0">
                <a:solidFill>
                  <a:srgbClr val="4472C4"/>
                </a:solidFill>
                <a:latin typeface="Times New Roman" panose="02020603050405020304" pitchFamily="18" charset="0"/>
              </a:rPr>
              <a:t>0 – Not churned accounts</a:t>
            </a:r>
          </a:p>
          <a:p>
            <a:r>
              <a:rPr lang="en-IN" sz="1400" dirty="0">
                <a:solidFill>
                  <a:srgbClr val="4472C4"/>
                </a:solidFill>
                <a:latin typeface="Times New Roman" panose="02020603050405020304" pitchFamily="18" charset="0"/>
              </a:rPr>
              <a:t>1- Churned accounts</a:t>
            </a:r>
          </a:p>
          <a:p>
            <a:endParaRPr lang="en-IN" sz="1400" dirty="0">
              <a:solidFill>
                <a:srgbClr val="4472C4"/>
              </a:solidFill>
              <a:latin typeface="Times New Roman" panose="02020603050405020304" pitchFamily="18" charset="0"/>
            </a:endParaRPr>
          </a:p>
          <a:p>
            <a:r>
              <a:rPr lang="en-IN" sz="1400" dirty="0">
                <a:solidFill>
                  <a:srgbClr val="4472C4"/>
                </a:solidFill>
                <a:latin typeface="Times New Roman" panose="02020603050405020304" pitchFamily="18" charset="0"/>
              </a:rPr>
              <a:t>Approximately 9000 accounts didn’t churn whereas approximately 2000 did. </a:t>
            </a:r>
          </a:p>
          <a:p>
            <a:endParaRPr lang="en-IN" sz="1400" dirty="0">
              <a:solidFill>
                <a:srgbClr val="4472C4"/>
              </a:solidFill>
              <a:latin typeface="Times New Roman" panose="02020603050405020304" pitchFamily="18" charset="0"/>
            </a:endParaRPr>
          </a:p>
          <a:p>
            <a:r>
              <a:rPr lang="en-IN" sz="1400" dirty="0">
                <a:solidFill>
                  <a:srgbClr val="4472C4"/>
                </a:solidFill>
                <a:latin typeface="Times New Roman" panose="02020603050405020304" pitchFamily="18" charset="0"/>
              </a:rPr>
              <a:t>As the number of churned accounts are way less than not churned accounts, therefore there is data imbalance in target variable which we will have to deal with.</a:t>
            </a:r>
          </a:p>
        </p:txBody>
      </p:sp>
      <p:pic>
        <p:nvPicPr>
          <p:cNvPr id="20" name="Picture 19">
            <a:extLst>
              <a:ext uri="{FF2B5EF4-FFF2-40B4-BE49-F238E27FC236}">
                <a16:creationId xmlns:a16="http://schemas.microsoft.com/office/drawing/2014/main" id="{C24AF960-F25F-C67E-48BF-416482DACA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3889" y="1737995"/>
            <a:ext cx="2845323" cy="1988739"/>
          </a:xfrm>
          <a:prstGeom prst="rect">
            <a:avLst/>
          </a:prstGeom>
          <a:ln>
            <a:solidFill>
              <a:schemeClr val="tx1"/>
            </a:solidFill>
          </a:ln>
        </p:spPr>
      </p:pic>
      <p:pic>
        <p:nvPicPr>
          <p:cNvPr id="21" name="Picture 20">
            <a:extLst>
              <a:ext uri="{FF2B5EF4-FFF2-40B4-BE49-F238E27FC236}">
                <a16:creationId xmlns:a16="http://schemas.microsoft.com/office/drawing/2014/main" id="{BF35FCBB-12EF-D9AF-E115-B31176AA30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13886" y="1748496"/>
            <a:ext cx="3456497" cy="1886573"/>
          </a:xfrm>
          <a:prstGeom prst="rect">
            <a:avLst/>
          </a:prstGeom>
          <a:ln>
            <a:solidFill>
              <a:schemeClr val="tx1"/>
            </a:solidFill>
          </a:ln>
        </p:spPr>
      </p:pic>
      <p:sp>
        <p:nvSpPr>
          <p:cNvPr id="22" name="TextBox 21">
            <a:extLst>
              <a:ext uri="{FF2B5EF4-FFF2-40B4-BE49-F238E27FC236}">
                <a16:creationId xmlns:a16="http://schemas.microsoft.com/office/drawing/2014/main" id="{19B6BF65-F05C-5AE3-3943-FB36F9C0C100}"/>
              </a:ext>
            </a:extLst>
          </p:cNvPr>
          <p:cNvSpPr txBox="1"/>
          <p:nvPr/>
        </p:nvSpPr>
        <p:spPr>
          <a:xfrm>
            <a:off x="8213886" y="4044107"/>
            <a:ext cx="3157976" cy="998928"/>
          </a:xfrm>
          <a:prstGeom prst="rect">
            <a:avLst/>
          </a:prstGeom>
          <a:noFill/>
        </p:spPr>
        <p:txBody>
          <a:bodyPr wrap="square" rtlCol="0">
            <a:spAutoFit/>
          </a:bodyPr>
          <a:lstStyle/>
          <a:p>
            <a:pPr>
              <a:lnSpc>
                <a:spcPct val="107000"/>
              </a:lnSpc>
              <a:spcBef>
                <a:spcPts val="600"/>
              </a:spcBef>
              <a:spcAft>
                <a:spcPts val="600"/>
              </a:spcAft>
            </a:pPr>
            <a:r>
              <a:rPr lang="en-IN" sz="1400" dirty="0">
                <a:solidFill>
                  <a:srgbClr val="4472C4"/>
                </a:solidFill>
                <a:latin typeface="Times New Roman" panose="02020603050405020304" pitchFamily="18" charset="0"/>
              </a:rPr>
              <a:t>Regular plus accounts have the highest number of churners whereas super plus and regular customers have lower churning rate.</a:t>
            </a:r>
          </a:p>
        </p:txBody>
      </p:sp>
    </p:spTree>
    <p:extLst>
      <p:ext uri="{BB962C8B-B14F-4D97-AF65-F5344CB8AC3E}">
        <p14:creationId xmlns:p14="http://schemas.microsoft.com/office/powerpoint/2010/main" val="1592706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9E137B-0341-5D3B-667F-DACDB4D3D48D}"/>
              </a:ext>
            </a:extLst>
          </p:cNvPr>
          <p:cNvCxnSpPr>
            <a:cxnSpLocks/>
          </p:cNvCxnSpPr>
          <p:nvPr/>
        </p:nvCxnSpPr>
        <p:spPr>
          <a:xfrm>
            <a:off x="339365" y="914399"/>
            <a:ext cx="11475562"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8F481A7-A444-24D1-D7D7-9E766F666713}"/>
              </a:ext>
            </a:extLst>
          </p:cNvPr>
          <p:cNvSpPr txBox="1"/>
          <p:nvPr/>
        </p:nvSpPr>
        <p:spPr>
          <a:xfrm>
            <a:off x="358219" y="372735"/>
            <a:ext cx="6457360" cy="461665"/>
          </a:xfrm>
          <a:prstGeom prst="rect">
            <a:avLst/>
          </a:prstGeom>
          <a:noFill/>
        </p:spPr>
        <p:txBody>
          <a:bodyPr wrap="square" rtlCol="0">
            <a:spAutoFit/>
          </a:bodyPr>
          <a:lstStyle/>
          <a:p>
            <a:r>
              <a:rPr lang="en-IN" sz="2400" b="1" dirty="0">
                <a:solidFill>
                  <a:srgbClr val="FF0000"/>
                </a:solidFill>
              </a:rPr>
              <a:t>Outlier Treatment</a:t>
            </a:r>
          </a:p>
        </p:txBody>
      </p:sp>
      <p:sp>
        <p:nvSpPr>
          <p:cNvPr id="3" name="TextBox 2">
            <a:extLst>
              <a:ext uri="{FF2B5EF4-FFF2-40B4-BE49-F238E27FC236}">
                <a16:creationId xmlns:a16="http://schemas.microsoft.com/office/drawing/2014/main" id="{04876255-30E0-54B2-5DE8-CB7B950C859E}"/>
              </a:ext>
            </a:extLst>
          </p:cNvPr>
          <p:cNvSpPr txBox="1"/>
          <p:nvPr/>
        </p:nvSpPr>
        <p:spPr>
          <a:xfrm>
            <a:off x="669305" y="1036137"/>
            <a:ext cx="3269531" cy="338554"/>
          </a:xfrm>
          <a:prstGeom prst="rect">
            <a:avLst/>
          </a:prstGeom>
          <a:noFill/>
        </p:spPr>
        <p:txBody>
          <a:bodyPr wrap="square" rtlCol="0">
            <a:spAutoFit/>
          </a:bodyPr>
          <a:lstStyle/>
          <a:p>
            <a:r>
              <a:rPr lang="en-IN" sz="1600" u="sng" dirty="0"/>
              <a:t>Before Outlier Treatment:</a:t>
            </a:r>
          </a:p>
        </p:txBody>
      </p:sp>
      <p:pic>
        <p:nvPicPr>
          <p:cNvPr id="18" name="Picture 17">
            <a:extLst>
              <a:ext uri="{FF2B5EF4-FFF2-40B4-BE49-F238E27FC236}">
                <a16:creationId xmlns:a16="http://schemas.microsoft.com/office/drawing/2014/main" id="{DA0C2776-E3AE-FA4C-276A-D339CF633082}"/>
              </a:ext>
            </a:extLst>
          </p:cNvPr>
          <p:cNvPicPr>
            <a:picLocks noChangeAspect="1"/>
          </p:cNvPicPr>
          <p:nvPr/>
        </p:nvPicPr>
        <p:blipFill>
          <a:blip r:embed="rId2"/>
          <a:stretch>
            <a:fillRect/>
          </a:stretch>
        </p:blipFill>
        <p:spPr>
          <a:xfrm>
            <a:off x="778165" y="1497563"/>
            <a:ext cx="5009895" cy="2209932"/>
          </a:xfrm>
          <a:prstGeom prst="rect">
            <a:avLst/>
          </a:prstGeom>
          <a:ln>
            <a:solidFill>
              <a:schemeClr val="tx1"/>
            </a:solidFill>
          </a:ln>
        </p:spPr>
      </p:pic>
      <p:sp>
        <p:nvSpPr>
          <p:cNvPr id="23" name="TextBox 22">
            <a:extLst>
              <a:ext uri="{FF2B5EF4-FFF2-40B4-BE49-F238E27FC236}">
                <a16:creationId xmlns:a16="http://schemas.microsoft.com/office/drawing/2014/main" id="{10B5754C-83DD-91E7-BDE9-957E93A3D40C}"/>
              </a:ext>
            </a:extLst>
          </p:cNvPr>
          <p:cNvSpPr txBox="1"/>
          <p:nvPr/>
        </p:nvSpPr>
        <p:spPr>
          <a:xfrm>
            <a:off x="688159" y="3824185"/>
            <a:ext cx="3269531" cy="338554"/>
          </a:xfrm>
          <a:prstGeom prst="rect">
            <a:avLst/>
          </a:prstGeom>
          <a:noFill/>
        </p:spPr>
        <p:txBody>
          <a:bodyPr wrap="square" rtlCol="0">
            <a:spAutoFit/>
          </a:bodyPr>
          <a:lstStyle/>
          <a:p>
            <a:r>
              <a:rPr lang="en-IN" sz="1600" u="sng" dirty="0"/>
              <a:t>After Outlier Treatment:</a:t>
            </a:r>
          </a:p>
        </p:txBody>
      </p:sp>
      <p:pic>
        <p:nvPicPr>
          <p:cNvPr id="24" name="Picture 23">
            <a:extLst>
              <a:ext uri="{FF2B5EF4-FFF2-40B4-BE49-F238E27FC236}">
                <a16:creationId xmlns:a16="http://schemas.microsoft.com/office/drawing/2014/main" id="{FBDF8BB9-67A9-9792-5A40-6C47C4D68F39}"/>
              </a:ext>
            </a:extLst>
          </p:cNvPr>
          <p:cNvPicPr>
            <a:picLocks noChangeAspect="1"/>
          </p:cNvPicPr>
          <p:nvPr/>
        </p:nvPicPr>
        <p:blipFill>
          <a:blip r:embed="rId3"/>
          <a:stretch>
            <a:fillRect/>
          </a:stretch>
        </p:blipFill>
        <p:spPr>
          <a:xfrm>
            <a:off x="778165" y="4219299"/>
            <a:ext cx="5009895" cy="2238643"/>
          </a:xfrm>
          <a:prstGeom prst="rect">
            <a:avLst/>
          </a:prstGeom>
          <a:ln>
            <a:solidFill>
              <a:schemeClr val="tx1"/>
            </a:solidFill>
          </a:ln>
        </p:spPr>
      </p:pic>
      <p:sp>
        <p:nvSpPr>
          <p:cNvPr id="4" name="TextBox 3">
            <a:extLst>
              <a:ext uri="{FF2B5EF4-FFF2-40B4-BE49-F238E27FC236}">
                <a16:creationId xmlns:a16="http://schemas.microsoft.com/office/drawing/2014/main" id="{D32BAFF6-0F43-4A97-0667-4D105D501F4F}"/>
              </a:ext>
            </a:extLst>
          </p:cNvPr>
          <p:cNvSpPr txBox="1"/>
          <p:nvPr/>
        </p:nvSpPr>
        <p:spPr>
          <a:xfrm>
            <a:off x="6570483" y="1054991"/>
            <a:ext cx="4515439" cy="4640822"/>
          </a:xfrm>
          <a:prstGeom prst="rect">
            <a:avLst/>
          </a:prstGeom>
          <a:noFill/>
        </p:spPr>
        <p:txBody>
          <a:bodyPr wrap="square" rtlCol="0">
            <a:spAutoFit/>
          </a:bodyPr>
          <a:lstStyle/>
          <a:p>
            <a:pPr>
              <a:lnSpc>
                <a:spcPct val="107000"/>
              </a:lnSpc>
              <a:spcBef>
                <a:spcPts val="600"/>
              </a:spcBef>
              <a:spcAft>
                <a:spcPts val="600"/>
              </a:spcAft>
            </a:pPr>
            <a:r>
              <a:rPr lang="en-IN" sz="1600" dirty="0"/>
              <a:t>Outlier Treatment:</a:t>
            </a:r>
            <a:endParaRPr lang="en-IN" sz="1600" dirty="0">
              <a:solidFill>
                <a:srgbClr val="4472C4"/>
              </a:solidFill>
              <a:latin typeface="Times New Roman" panose="02020603050405020304" pitchFamily="18" charset="0"/>
            </a:endParaRPr>
          </a:p>
          <a:p>
            <a:pPr>
              <a:lnSpc>
                <a:spcPct val="107000"/>
              </a:lnSpc>
              <a:spcBef>
                <a:spcPts val="600"/>
              </a:spcBef>
              <a:spcAft>
                <a:spcPts val="600"/>
              </a:spcAft>
            </a:pPr>
            <a:r>
              <a:rPr lang="en-IN" sz="1600" dirty="0">
                <a:solidFill>
                  <a:srgbClr val="4472C4"/>
                </a:solidFill>
                <a:latin typeface="Times New Roman" panose="02020603050405020304" pitchFamily="18" charset="0"/>
              </a:rPr>
              <a:t>All variables have the presence of outliers except for one. The outliers would be a problem in model building exercise to be performed later. So, we will be treating these outliers using proper measures.</a:t>
            </a:r>
          </a:p>
          <a:p>
            <a:pPr>
              <a:lnSpc>
                <a:spcPct val="107000"/>
              </a:lnSpc>
              <a:spcBef>
                <a:spcPts val="600"/>
              </a:spcBef>
              <a:spcAft>
                <a:spcPts val="600"/>
              </a:spcAft>
            </a:pPr>
            <a:r>
              <a:rPr lang="en-IN" sz="1600" dirty="0">
                <a:solidFill>
                  <a:srgbClr val="4472C4"/>
                </a:solidFill>
                <a:latin typeface="Times New Roman" panose="02020603050405020304" pitchFamily="18" charset="0"/>
              </a:rPr>
              <a:t>To treat the outliers, we replace the values which are greater than the upper range of the variable to the upper range and the values which are lower than the lower range of the variable.</a:t>
            </a:r>
          </a:p>
          <a:p>
            <a:pPr>
              <a:lnSpc>
                <a:spcPct val="107000"/>
              </a:lnSpc>
              <a:spcBef>
                <a:spcPts val="600"/>
              </a:spcBef>
              <a:spcAft>
                <a:spcPts val="600"/>
              </a:spcAft>
            </a:pPr>
            <a:r>
              <a:rPr lang="en-IN" sz="1600" dirty="0">
                <a:solidFill>
                  <a:srgbClr val="4472C4"/>
                </a:solidFill>
                <a:latin typeface="Times New Roman" panose="02020603050405020304" pitchFamily="18" charset="0"/>
              </a:rPr>
              <a:t>Upper range = 3rd quartile + (1.5 * IQR)</a:t>
            </a:r>
          </a:p>
          <a:p>
            <a:pPr>
              <a:lnSpc>
                <a:spcPct val="107000"/>
              </a:lnSpc>
              <a:spcBef>
                <a:spcPts val="600"/>
              </a:spcBef>
              <a:spcAft>
                <a:spcPts val="600"/>
              </a:spcAft>
            </a:pPr>
            <a:r>
              <a:rPr lang="en-IN" sz="1600" dirty="0">
                <a:solidFill>
                  <a:srgbClr val="4472C4"/>
                </a:solidFill>
                <a:latin typeface="Times New Roman" panose="02020603050405020304" pitchFamily="18" charset="0"/>
              </a:rPr>
              <a:t>Lower range = 1st quartile – (1.5 * IQR)</a:t>
            </a:r>
          </a:p>
          <a:p>
            <a:pPr>
              <a:lnSpc>
                <a:spcPct val="107000"/>
              </a:lnSpc>
              <a:spcBef>
                <a:spcPts val="600"/>
              </a:spcBef>
              <a:spcAft>
                <a:spcPts val="600"/>
              </a:spcAft>
            </a:pPr>
            <a:r>
              <a:rPr lang="en-IN" sz="1600" dirty="0">
                <a:solidFill>
                  <a:srgbClr val="4472C4"/>
                </a:solidFill>
                <a:latin typeface="Times New Roman" panose="02020603050405020304" pitchFamily="18" charset="0"/>
              </a:rPr>
              <a:t>The adjacent images show the distribution of variables before and after the treatment of outliers.</a:t>
            </a:r>
          </a:p>
          <a:p>
            <a:endParaRPr lang="en-IN" dirty="0"/>
          </a:p>
        </p:txBody>
      </p:sp>
    </p:spTree>
    <p:extLst>
      <p:ext uri="{BB962C8B-B14F-4D97-AF65-F5344CB8AC3E}">
        <p14:creationId xmlns:p14="http://schemas.microsoft.com/office/powerpoint/2010/main" val="3017576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9E137B-0341-5D3B-667F-DACDB4D3D48D}"/>
              </a:ext>
            </a:extLst>
          </p:cNvPr>
          <p:cNvCxnSpPr>
            <a:cxnSpLocks/>
          </p:cNvCxnSpPr>
          <p:nvPr/>
        </p:nvCxnSpPr>
        <p:spPr>
          <a:xfrm>
            <a:off x="339365" y="914399"/>
            <a:ext cx="11475562"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8F481A7-A444-24D1-D7D7-9E766F666713}"/>
              </a:ext>
            </a:extLst>
          </p:cNvPr>
          <p:cNvSpPr txBox="1"/>
          <p:nvPr/>
        </p:nvSpPr>
        <p:spPr>
          <a:xfrm>
            <a:off x="358219" y="372735"/>
            <a:ext cx="6457360" cy="461665"/>
          </a:xfrm>
          <a:prstGeom prst="rect">
            <a:avLst/>
          </a:prstGeom>
          <a:noFill/>
        </p:spPr>
        <p:txBody>
          <a:bodyPr wrap="square" rtlCol="0">
            <a:spAutoFit/>
          </a:bodyPr>
          <a:lstStyle/>
          <a:p>
            <a:r>
              <a:rPr lang="en-IN" sz="2400" b="1" dirty="0">
                <a:solidFill>
                  <a:srgbClr val="FF0000"/>
                </a:solidFill>
              </a:rPr>
              <a:t>Prepping Data for Model Building - 1</a:t>
            </a:r>
          </a:p>
        </p:txBody>
      </p:sp>
      <p:sp>
        <p:nvSpPr>
          <p:cNvPr id="3" name="TextBox 2">
            <a:extLst>
              <a:ext uri="{FF2B5EF4-FFF2-40B4-BE49-F238E27FC236}">
                <a16:creationId xmlns:a16="http://schemas.microsoft.com/office/drawing/2014/main" id="{04876255-30E0-54B2-5DE8-CB7B950C859E}"/>
              </a:ext>
            </a:extLst>
          </p:cNvPr>
          <p:cNvSpPr txBox="1"/>
          <p:nvPr/>
        </p:nvSpPr>
        <p:spPr>
          <a:xfrm>
            <a:off x="339366" y="1064415"/>
            <a:ext cx="5467546" cy="2983124"/>
          </a:xfrm>
          <a:prstGeom prst="rect">
            <a:avLst/>
          </a:prstGeom>
          <a:noFill/>
        </p:spPr>
        <p:txBody>
          <a:bodyPr wrap="square" rtlCol="0">
            <a:spAutoFit/>
          </a:bodyPr>
          <a:lstStyle/>
          <a:p>
            <a:r>
              <a:rPr lang="en-IN" sz="1600" u="sng" dirty="0"/>
              <a:t>Encoding of Variables:</a:t>
            </a:r>
          </a:p>
          <a:p>
            <a:endParaRPr lang="en-IN" sz="1600" dirty="0"/>
          </a:p>
          <a:p>
            <a:r>
              <a:rPr lang="en-US" sz="1400" dirty="0">
                <a:solidFill>
                  <a:srgbClr val="4472C4"/>
                </a:solidFill>
                <a:latin typeface="Times New Roman" panose="02020603050405020304" pitchFamily="18" charset="0"/>
              </a:rPr>
              <a:t>Encoding is the transformation of categorical variables to binary or numerical counterparts.</a:t>
            </a:r>
          </a:p>
          <a:p>
            <a:r>
              <a:rPr lang="en-US" sz="1400" dirty="0">
                <a:solidFill>
                  <a:srgbClr val="4472C4"/>
                </a:solidFill>
                <a:latin typeface="Times New Roman" panose="02020603050405020304" pitchFamily="18" charset="0"/>
              </a:rPr>
              <a:t>The variables which would be converted to numerical counterparts are:</a:t>
            </a:r>
          </a:p>
          <a:p>
            <a:pPr marL="342900" lvl="0" indent="-342900">
              <a:lnSpc>
                <a:spcPct val="107000"/>
              </a:lnSpc>
              <a:spcBef>
                <a:spcPts val="600"/>
              </a:spcBef>
              <a:buFont typeface="+mj-lt"/>
              <a:buAutoNum type="arabicParenR"/>
            </a:pPr>
            <a:r>
              <a:rPr lang="en-IN" sz="1400" dirty="0">
                <a:solidFill>
                  <a:srgbClr val="4472C4"/>
                </a:solidFill>
                <a:latin typeface="Times New Roman" panose="02020603050405020304" pitchFamily="18" charset="0"/>
              </a:rPr>
              <a:t>Churn</a:t>
            </a:r>
          </a:p>
          <a:p>
            <a:pPr marL="342900" lvl="0" indent="-342900">
              <a:lnSpc>
                <a:spcPct val="107000"/>
              </a:lnSpc>
              <a:buFont typeface="+mj-lt"/>
              <a:buAutoNum type="arabicParenR"/>
            </a:pPr>
            <a:r>
              <a:rPr lang="en-IN" sz="1400" dirty="0">
                <a:solidFill>
                  <a:srgbClr val="4472C4"/>
                </a:solidFill>
                <a:latin typeface="Times New Roman" panose="02020603050405020304" pitchFamily="18" charset="0"/>
              </a:rPr>
              <a:t>City_Tier</a:t>
            </a:r>
          </a:p>
          <a:p>
            <a:pPr marL="342900" lvl="0" indent="-342900">
              <a:lnSpc>
                <a:spcPct val="107000"/>
              </a:lnSpc>
              <a:buFont typeface="+mj-lt"/>
              <a:buAutoNum type="arabicParenR"/>
            </a:pPr>
            <a:r>
              <a:rPr lang="en-IN" sz="1400" dirty="0" err="1">
                <a:solidFill>
                  <a:srgbClr val="4472C4"/>
                </a:solidFill>
                <a:latin typeface="Times New Roman" panose="02020603050405020304" pitchFamily="18" charset="0"/>
              </a:rPr>
              <a:t>Service_Score</a:t>
            </a:r>
            <a:endParaRPr lang="en-IN" sz="1400" dirty="0">
              <a:solidFill>
                <a:srgbClr val="4472C4"/>
              </a:solidFill>
              <a:latin typeface="Times New Roman" panose="02020603050405020304" pitchFamily="18" charset="0"/>
            </a:endParaRPr>
          </a:p>
          <a:p>
            <a:pPr marL="342900" lvl="0" indent="-342900">
              <a:lnSpc>
                <a:spcPct val="107000"/>
              </a:lnSpc>
              <a:buFont typeface="+mj-lt"/>
              <a:buAutoNum type="arabicParenR"/>
            </a:pPr>
            <a:r>
              <a:rPr lang="en-IN" sz="1400" dirty="0" err="1">
                <a:solidFill>
                  <a:srgbClr val="4472C4"/>
                </a:solidFill>
                <a:latin typeface="Times New Roman" panose="02020603050405020304" pitchFamily="18" charset="0"/>
              </a:rPr>
              <a:t>CC_Agent_Score</a:t>
            </a:r>
            <a:endParaRPr lang="en-IN" sz="1400" dirty="0">
              <a:solidFill>
                <a:srgbClr val="4472C4"/>
              </a:solidFill>
              <a:latin typeface="Times New Roman" panose="02020603050405020304" pitchFamily="18" charset="0"/>
            </a:endParaRPr>
          </a:p>
          <a:p>
            <a:pPr marL="342900" lvl="0" indent="-342900">
              <a:lnSpc>
                <a:spcPct val="107000"/>
              </a:lnSpc>
              <a:spcAft>
                <a:spcPts val="600"/>
              </a:spcAft>
              <a:buFont typeface="+mj-lt"/>
              <a:buAutoNum type="arabicParenR"/>
            </a:pPr>
            <a:r>
              <a:rPr lang="en-IN" sz="1400" dirty="0" err="1">
                <a:solidFill>
                  <a:srgbClr val="4472C4"/>
                </a:solidFill>
                <a:latin typeface="Times New Roman" panose="02020603050405020304" pitchFamily="18" charset="0"/>
              </a:rPr>
              <a:t>Complain_ly</a:t>
            </a:r>
            <a:endParaRPr lang="en-IN" sz="1400" dirty="0">
              <a:solidFill>
                <a:srgbClr val="4472C4"/>
              </a:solidFill>
              <a:latin typeface="Times New Roman" panose="02020603050405020304" pitchFamily="18" charset="0"/>
            </a:endParaRPr>
          </a:p>
          <a:p>
            <a:pPr lvl="0">
              <a:lnSpc>
                <a:spcPct val="107000"/>
              </a:lnSpc>
              <a:spcAft>
                <a:spcPts val="600"/>
              </a:spcAft>
            </a:pPr>
            <a:r>
              <a:rPr lang="en-IN" sz="1400" dirty="0">
                <a:solidFill>
                  <a:srgbClr val="4472C4"/>
                </a:solidFill>
                <a:latin typeface="Times New Roman" panose="02020603050405020304" pitchFamily="18" charset="0"/>
              </a:rPr>
              <a:t>The rest of the categorical variables are converted using one-hot encoding technique. </a:t>
            </a:r>
          </a:p>
        </p:txBody>
      </p:sp>
      <p:pic>
        <p:nvPicPr>
          <p:cNvPr id="10" name="Picture 9">
            <a:extLst>
              <a:ext uri="{FF2B5EF4-FFF2-40B4-BE49-F238E27FC236}">
                <a16:creationId xmlns:a16="http://schemas.microsoft.com/office/drawing/2014/main" id="{8D9A779A-E666-6A73-102D-C702F808BE44}"/>
              </a:ext>
            </a:extLst>
          </p:cNvPr>
          <p:cNvPicPr>
            <a:picLocks noChangeAspect="1"/>
          </p:cNvPicPr>
          <p:nvPr/>
        </p:nvPicPr>
        <p:blipFill>
          <a:blip r:embed="rId2"/>
          <a:stretch>
            <a:fillRect/>
          </a:stretch>
        </p:blipFill>
        <p:spPr>
          <a:xfrm>
            <a:off x="2827127" y="3924991"/>
            <a:ext cx="2301965" cy="2505459"/>
          </a:xfrm>
          <a:prstGeom prst="rect">
            <a:avLst/>
          </a:prstGeom>
          <a:ln>
            <a:solidFill>
              <a:schemeClr val="tx1"/>
            </a:solidFill>
          </a:ln>
        </p:spPr>
      </p:pic>
      <p:sp>
        <p:nvSpPr>
          <p:cNvPr id="2" name="TextBox 1">
            <a:extLst>
              <a:ext uri="{FF2B5EF4-FFF2-40B4-BE49-F238E27FC236}">
                <a16:creationId xmlns:a16="http://schemas.microsoft.com/office/drawing/2014/main" id="{F9375E57-4ECE-86DF-466E-119A0E9EA29B}"/>
              </a:ext>
            </a:extLst>
          </p:cNvPr>
          <p:cNvSpPr txBox="1"/>
          <p:nvPr/>
        </p:nvSpPr>
        <p:spPr>
          <a:xfrm>
            <a:off x="358219" y="4119513"/>
            <a:ext cx="2301965" cy="738664"/>
          </a:xfrm>
          <a:prstGeom prst="rect">
            <a:avLst/>
          </a:prstGeom>
          <a:noFill/>
        </p:spPr>
        <p:txBody>
          <a:bodyPr wrap="square" rtlCol="0">
            <a:spAutoFit/>
          </a:bodyPr>
          <a:lstStyle/>
          <a:p>
            <a:r>
              <a:rPr lang="en-IN" sz="1400" dirty="0">
                <a:solidFill>
                  <a:srgbClr val="4472C4"/>
                </a:solidFill>
                <a:latin typeface="Times New Roman" panose="02020603050405020304" pitchFamily="18" charset="0"/>
              </a:rPr>
              <a:t>Final encoded variables are as shown in the adjacent figure.</a:t>
            </a:r>
          </a:p>
        </p:txBody>
      </p:sp>
      <p:cxnSp>
        <p:nvCxnSpPr>
          <p:cNvPr id="12" name="Straight Connector 11">
            <a:extLst>
              <a:ext uri="{FF2B5EF4-FFF2-40B4-BE49-F238E27FC236}">
                <a16:creationId xmlns:a16="http://schemas.microsoft.com/office/drawing/2014/main" id="{7B5B9B54-78FB-DF26-688C-F8C7A8B8BAE8}"/>
              </a:ext>
            </a:extLst>
          </p:cNvPr>
          <p:cNvCxnSpPr>
            <a:cxnSpLocks/>
          </p:cNvCxnSpPr>
          <p:nvPr/>
        </p:nvCxnSpPr>
        <p:spPr>
          <a:xfrm>
            <a:off x="5882327" y="1064415"/>
            <a:ext cx="0" cy="5437696"/>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13" name="TextBox 12">
            <a:extLst>
              <a:ext uri="{FF2B5EF4-FFF2-40B4-BE49-F238E27FC236}">
                <a16:creationId xmlns:a16="http://schemas.microsoft.com/office/drawing/2014/main" id="{67BEF230-C7F4-31F4-8B7E-23A197C2FD19}"/>
              </a:ext>
            </a:extLst>
          </p:cNvPr>
          <p:cNvSpPr txBox="1"/>
          <p:nvPr/>
        </p:nvSpPr>
        <p:spPr>
          <a:xfrm>
            <a:off x="6096000" y="1064415"/>
            <a:ext cx="5467546" cy="2845907"/>
          </a:xfrm>
          <a:prstGeom prst="rect">
            <a:avLst/>
          </a:prstGeom>
          <a:noFill/>
        </p:spPr>
        <p:txBody>
          <a:bodyPr wrap="square" rtlCol="0">
            <a:spAutoFit/>
          </a:bodyPr>
          <a:lstStyle/>
          <a:p>
            <a:r>
              <a:rPr lang="en-IN" sz="1600" u="sng" dirty="0"/>
              <a:t>VIF Scores:</a:t>
            </a:r>
          </a:p>
          <a:p>
            <a:endParaRPr lang="en-IN" sz="1600" dirty="0">
              <a:solidFill>
                <a:srgbClr val="4472C4"/>
              </a:solidFill>
              <a:latin typeface="Times New Roman" panose="02020603050405020304" pitchFamily="18" charset="0"/>
            </a:endParaRPr>
          </a:p>
          <a:p>
            <a:r>
              <a:rPr lang="en-US" sz="1400" dirty="0">
                <a:solidFill>
                  <a:srgbClr val="4472C4"/>
                </a:solidFill>
                <a:latin typeface="Times New Roman" panose="02020603050405020304" pitchFamily="18" charset="0"/>
              </a:rPr>
              <a:t>VIF (Variance Inflation factor) score of an independent variable represents how well the variable is explained by other independent variables.</a:t>
            </a:r>
          </a:p>
          <a:p>
            <a:endParaRPr lang="en-US" sz="1400" dirty="0">
              <a:solidFill>
                <a:srgbClr val="4472C4"/>
              </a:solidFill>
              <a:latin typeface="Times New Roman" panose="02020603050405020304" pitchFamily="18" charset="0"/>
            </a:endParaRPr>
          </a:p>
          <a:p>
            <a:r>
              <a:rPr lang="en-US" sz="1400" dirty="0">
                <a:solidFill>
                  <a:srgbClr val="4472C4"/>
                </a:solidFill>
                <a:latin typeface="Times New Roman" panose="02020603050405020304" pitchFamily="18" charset="0"/>
              </a:rPr>
              <a:t>Higher the VIF score, higher the multicollinearity with the particular independent variable.</a:t>
            </a:r>
          </a:p>
          <a:p>
            <a:endParaRPr lang="en-US" sz="1400" dirty="0">
              <a:solidFill>
                <a:srgbClr val="4472C4"/>
              </a:solidFill>
              <a:latin typeface="Times New Roman" panose="02020603050405020304" pitchFamily="18" charset="0"/>
            </a:endParaRPr>
          </a:p>
          <a:p>
            <a:pPr>
              <a:lnSpc>
                <a:spcPct val="107000"/>
              </a:lnSpc>
              <a:spcBef>
                <a:spcPts val="600"/>
              </a:spcBef>
              <a:spcAft>
                <a:spcPts val="600"/>
              </a:spcAft>
            </a:pPr>
            <a:r>
              <a:rPr lang="en-IN" sz="1400" dirty="0">
                <a:solidFill>
                  <a:srgbClr val="4472C4"/>
                </a:solidFill>
                <a:latin typeface="Times New Roman" panose="02020603050405020304" pitchFamily="18" charset="0"/>
              </a:rPr>
              <a:t>We check the VIF scores of variables and remove them one by one from the dataset till all included variables have scores less than 5. Final VIF Scores are given below.</a:t>
            </a:r>
          </a:p>
        </p:txBody>
      </p:sp>
      <p:pic>
        <p:nvPicPr>
          <p:cNvPr id="8" name="Picture 7">
            <a:extLst>
              <a:ext uri="{FF2B5EF4-FFF2-40B4-BE49-F238E27FC236}">
                <a16:creationId xmlns:a16="http://schemas.microsoft.com/office/drawing/2014/main" id="{E4147817-E8C0-9BF1-1B09-F1823A89D8AD}"/>
              </a:ext>
            </a:extLst>
          </p:cNvPr>
          <p:cNvPicPr>
            <a:picLocks noChangeAspect="1"/>
          </p:cNvPicPr>
          <p:nvPr/>
        </p:nvPicPr>
        <p:blipFill>
          <a:blip r:embed="rId3"/>
          <a:stretch>
            <a:fillRect/>
          </a:stretch>
        </p:blipFill>
        <p:spPr>
          <a:xfrm>
            <a:off x="6474426" y="4047539"/>
            <a:ext cx="2222403" cy="2248096"/>
          </a:xfrm>
          <a:prstGeom prst="rect">
            <a:avLst/>
          </a:prstGeom>
          <a:ln>
            <a:solidFill>
              <a:schemeClr val="tx1"/>
            </a:solidFill>
          </a:ln>
        </p:spPr>
      </p:pic>
      <p:pic>
        <p:nvPicPr>
          <p:cNvPr id="15" name="Picture 14">
            <a:extLst>
              <a:ext uri="{FF2B5EF4-FFF2-40B4-BE49-F238E27FC236}">
                <a16:creationId xmlns:a16="http://schemas.microsoft.com/office/drawing/2014/main" id="{4F1BF83C-4B98-F148-7872-6472DC0ED184}"/>
              </a:ext>
            </a:extLst>
          </p:cNvPr>
          <p:cNvPicPr>
            <a:picLocks noChangeAspect="1"/>
          </p:cNvPicPr>
          <p:nvPr/>
        </p:nvPicPr>
        <p:blipFill>
          <a:blip r:embed="rId4"/>
          <a:stretch>
            <a:fillRect/>
          </a:stretch>
        </p:blipFill>
        <p:spPr>
          <a:xfrm>
            <a:off x="8962698" y="4060337"/>
            <a:ext cx="2455923" cy="2099992"/>
          </a:xfrm>
          <a:prstGeom prst="rect">
            <a:avLst/>
          </a:prstGeom>
          <a:ln>
            <a:solidFill>
              <a:schemeClr val="tx1"/>
            </a:solidFill>
          </a:ln>
        </p:spPr>
      </p:pic>
    </p:spTree>
    <p:extLst>
      <p:ext uri="{BB962C8B-B14F-4D97-AF65-F5344CB8AC3E}">
        <p14:creationId xmlns:p14="http://schemas.microsoft.com/office/powerpoint/2010/main" val="49244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9E137B-0341-5D3B-667F-DACDB4D3D48D}"/>
              </a:ext>
            </a:extLst>
          </p:cNvPr>
          <p:cNvCxnSpPr>
            <a:cxnSpLocks/>
          </p:cNvCxnSpPr>
          <p:nvPr/>
        </p:nvCxnSpPr>
        <p:spPr>
          <a:xfrm>
            <a:off x="339365" y="914399"/>
            <a:ext cx="11475562"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8F481A7-A444-24D1-D7D7-9E766F666713}"/>
              </a:ext>
            </a:extLst>
          </p:cNvPr>
          <p:cNvSpPr txBox="1"/>
          <p:nvPr/>
        </p:nvSpPr>
        <p:spPr>
          <a:xfrm>
            <a:off x="358219" y="372735"/>
            <a:ext cx="6457360" cy="461665"/>
          </a:xfrm>
          <a:prstGeom prst="rect">
            <a:avLst/>
          </a:prstGeom>
          <a:noFill/>
        </p:spPr>
        <p:txBody>
          <a:bodyPr wrap="square" rtlCol="0">
            <a:spAutoFit/>
          </a:bodyPr>
          <a:lstStyle/>
          <a:p>
            <a:r>
              <a:rPr lang="en-IN" sz="2400" b="1" dirty="0">
                <a:solidFill>
                  <a:srgbClr val="FF0000"/>
                </a:solidFill>
              </a:rPr>
              <a:t>Prepping Data for Model Building - 2</a:t>
            </a:r>
          </a:p>
        </p:txBody>
      </p:sp>
      <p:sp>
        <p:nvSpPr>
          <p:cNvPr id="3" name="TextBox 2">
            <a:extLst>
              <a:ext uri="{FF2B5EF4-FFF2-40B4-BE49-F238E27FC236}">
                <a16:creationId xmlns:a16="http://schemas.microsoft.com/office/drawing/2014/main" id="{04876255-30E0-54B2-5DE8-CB7B950C859E}"/>
              </a:ext>
            </a:extLst>
          </p:cNvPr>
          <p:cNvSpPr txBox="1"/>
          <p:nvPr/>
        </p:nvSpPr>
        <p:spPr>
          <a:xfrm>
            <a:off x="339366" y="1130404"/>
            <a:ext cx="5467546" cy="2092881"/>
          </a:xfrm>
          <a:prstGeom prst="rect">
            <a:avLst/>
          </a:prstGeom>
          <a:noFill/>
        </p:spPr>
        <p:txBody>
          <a:bodyPr wrap="square" rtlCol="0">
            <a:spAutoFit/>
          </a:bodyPr>
          <a:lstStyle/>
          <a:p>
            <a:r>
              <a:rPr lang="en-IN" sz="1600" u="sng" dirty="0"/>
              <a:t>Train &amp; Test Split:</a:t>
            </a:r>
          </a:p>
          <a:p>
            <a:endParaRPr lang="en-IN" sz="1600" dirty="0"/>
          </a:p>
          <a:p>
            <a:r>
              <a:rPr lang="en-IN" sz="1400" dirty="0">
                <a:solidFill>
                  <a:srgbClr val="4472C4"/>
                </a:solidFill>
                <a:latin typeface="Times New Roman" panose="02020603050405020304" pitchFamily="18" charset="0"/>
              </a:rPr>
              <a:t>For our train-test split, we take our target variable ‘Churn’ in y and rest of the data frame in X. </a:t>
            </a:r>
          </a:p>
          <a:p>
            <a:endParaRPr lang="en-IN" sz="1400" dirty="0">
              <a:solidFill>
                <a:srgbClr val="4472C4"/>
              </a:solidFill>
              <a:latin typeface="Times New Roman" panose="02020603050405020304" pitchFamily="18" charset="0"/>
            </a:endParaRPr>
          </a:p>
          <a:p>
            <a:r>
              <a:rPr lang="en-IN" sz="1400" dirty="0">
                <a:solidFill>
                  <a:srgbClr val="4472C4"/>
                </a:solidFill>
                <a:latin typeface="Times New Roman" panose="02020603050405020304" pitchFamily="18" charset="0"/>
              </a:rPr>
              <a:t>The split is done in the ration 70:30 where 70% of the data belongs to train and 30% of the data is for test. </a:t>
            </a:r>
          </a:p>
          <a:p>
            <a:endParaRPr lang="en-IN" sz="1400" dirty="0">
              <a:solidFill>
                <a:srgbClr val="4472C4"/>
              </a:solidFill>
              <a:latin typeface="Times New Roman" panose="02020603050405020304" pitchFamily="18" charset="0"/>
            </a:endParaRPr>
          </a:p>
          <a:p>
            <a:r>
              <a:rPr lang="en-IN" sz="1400" dirty="0">
                <a:solidFill>
                  <a:srgbClr val="4472C4"/>
                </a:solidFill>
                <a:latin typeface="Times New Roman" panose="02020603050405020304" pitchFamily="18" charset="0"/>
              </a:rPr>
              <a:t>We also consider random state as 1.</a:t>
            </a:r>
          </a:p>
        </p:txBody>
      </p:sp>
      <p:cxnSp>
        <p:nvCxnSpPr>
          <p:cNvPr id="12" name="Straight Connector 11">
            <a:extLst>
              <a:ext uri="{FF2B5EF4-FFF2-40B4-BE49-F238E27FC236}">
                <a16:creationId xmlns:a16="http://schemas.microsoft.com/office/drawing/2014/main" id="{7B5B9B54-78FB-DF26-688C-F8C7A8B8BAE8}"/>
              </a:ext>
            </a:extLst>
          </p:cNvPr>
          <p:cNvCxnSpPr>
            <a:cxnSpLocks/>
          </p:cNvCxnSpPr>
          <p:nvPr/>
        </p:nvCxnSpPr>
        <p:spPr>
          <a:xfrm>
            <a:off x="5882327" y="1064415"/>
            <a:ext cx="0" cy="5437696"/>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13" name="TextBox 12">
            <a:extLst>
              <a:ext uri="{FF2B5EF4-FFF2-40B4-BE49-F238E27FC236}">
                <a16:creationId xmlns:a16="http://schemas.microsoft.com/office/drawing/2014/main" id="{67BEF230-C7F4-31F4-8B7E-23A197C2FD19}"/>
              </a:ext>
            </a:extLst>
          </p:cNvPr>
          <p:cNvSpPr txBox="1"/>
          <p:nvPr/>
        </p:nvSpPr>
        <p:spPr>
          <a:xfrm>
            <a:off x="6096000" y="1130404"/>
            <a:ext cx="5467546" cy="4488986"/>
          </a:xfrm>
          <a:prstGeom prst="rect">
            <a:avLst/>
          </a:prstGeom>
          <a:noFill/>
        </p:spPr>
        <p:txBody>
          <a:bodyPr wrap="square" rtlCol="0">
            <a:spAutoFit/>
          </a:bodyPr>
          <a:lstStyle/>
          <a:p>
            <a:r>
              <a:rPr lang="en-IN" sz="1600" u="sng" dirty="0"/>
              <a:t>SMOTE:</a:t>
            </a:r>
          </a:p>
          <a:p>
            <a:endParaRPr lang="en-IN" sz="1600" dirty="0">
              <a:solidFill>
                <a:srgbClr val="4472C4"/>
              </a:solidFill>
              <a:latin typeface="Times New Roman" panose="02020603050405020304" pitchFamily="18" charset="0"/>
            </a:endParaRPr>
          </a:p>
          <a:p>
            <a:pPr>
              <a:lnSpc>
                <a:spcPct val="107000"/>
              </a:lnSpc>
              <a:spcBef>
                <a:spcPts val="600"/>
              </a:spcBef>
              <a:spcAft>
                <a:spcPts val="600"/>
              </a:spcAft>
            </a:pPr>
            <a:r>
              <a:rPr lang="en-IN" sz="1400" dirty="0">
                <a:solidFill>
                  <a:srgbClr val="4472C4"/>
                </a:solidFill>
                <a:latin typeface="Times New Roman" panose="02020603050405020304" pitchFamily="18" charset="0"/>
              </a:rPr>
              <a:t>On checking the distribution of our target variable (Churn), we find that out of total customers in record, only 16.958 % of the customers churned while 83.042 % did not churn.</a:t>
            </a:r>
          </a:p>
          <a:p>
            <a:pPr>
              <a:lnSpc>
                <a:spcPct val="107000"/>
              </a:lnSpc>
              <a:spcBef>
                <a:spcPts val="600"/>
              </a:spcBef>
              <a:spcAft>
                <a:spcPts val="600"/>
              </a:spcAft>
            </a:pPr>
            <a:r>
              <a:rPr lang="en-IN" sz="1400" dirty="0">
                <a:solidFill>
                  <a:srgbClr val="4472C4"/>
                </a:solidFill>
                <a:latin typeface="Times New Roman" panose="02020603050405020304" pitchFamily="18" charset="0"/>
              </a:rPr>
              <a:t>This data is highly imbalanced and therefore we will need to balance this data. We will be using SMOTE technique to balance this data.</a:t>
            </a:r>
          </a:p>
          <a:p>
            <a:pPr>
              <a:lnSpc>
                <a:spcPct val="107000"/>
              </a:lnSpc>
              <a:spcBef>
                <a:spcPts val="600"/>
              </a:spcBef>
              <a:spcAft>
                <a:spcPts val="600"/>
              </a:spcAft>
            </a:pPr>
            <a:r>
              <a:rPr lang="en-IN" sz="1400" dirty="0">
                <a:solidFill>
                  <a:srgbClr val="4472C4"/>
                </a:solidFill>
                <a:latin typeface="Times New Roman" panose="02020603050405020304" pitchFamily="18" charset="0"/>
              </a:rPr>
              <a:t>SMOTE stands for Synthetic Minority Over-sampling Technique. This method creates synthetic samples of your data, so rather than taking copies of observations, SMOTE uses a distance measure to create synthetic samples of data points that would not be far from your data points.</a:t>
            </a:r>
          </a:p>
          <a:p>
            <a:pPr>
              <a:lnSpc>
                <a:spcPct val="107000"/>
              </a:lnSpc>
              <a:spcBef>
                <a:spcPts val="600"/>
              </a:spcBef>
              <a:spcAft>
                <a:spcPts val="600"/>
              </a:spcAft>
            </a:pPr>
            <a:r>
              <a:rPr lang="en-IN" sz="1400" dirty="0">
                <a:solidFill>
                  <a:srgbClr val="4472C4"/>
                </a:solidFill>
                <a:latin typeface="Times New Roman" panose="02020603050405020304" pitchFamily="18" charset="0"/>
              </a:rPr>
              <a:t>New shape of our Train dataset consists of 12,732 records which includes synthetic samples of minority data.</a:t>
            </a:r>
          </a:p>
          <a:p>
            <a:pPr>
              <a:lnSpc>
                <a:spcPct val="107000"/>
              </a:lnSpc>
              <a:spcBef>
                <a:spcPts val="600"/>
              </a:spcBef>
              <a:spcAft>
                <a:spcPts val="600"/>
              </a:spcAft>
            </a:pPr>
            <a:r>
              <a:rPr lang="en-IN" sz="1400" dirty="0">
                <a:solidFill>
                  <a:srgbClr val="4472C4"/>
                </a:solidFill>
                <a:latin typeface="Times New Roman" panose="02020603050405020304" pitchFamily="18" charset="0"/>
              </a:rPr>
              <a:t>In this churned customer are 6366 and non-churned customers are also 6366. So, the data is now perfectly balanced with 50-50 data points.</a:t>
            </a:r>
          </a:p>
        </p:txBody>
      </p:sp>
      <p:pic>
        <p:nvPicPr>
          <p:cNvPr id="14" name="Picture 13">
            <a:extLst>
              <a:ext uri="{FF2B5EF4-FFF2-40B4-BE49-F238E27FC236}">
                <a16:creationId xmlns:a16="http://schemas.microsoft.com/office/drawing/2014/main" id="{851ECEC9-B214-E751-EAF4-6EFDF280BD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365" y="3492632"/>
            <a:ext cx="2841291" cy="833565"/>
          </a:xfrm>
          <a:prstGeom prst="rect">
            <a:avLst/>
          </a:prstGeom>
          <a:ln>
            <a:solidFill>
              <a:schemeClr val="tx1"/>
            </a:solidFill>
          </a:ln>
        </p:spPr>
      </p:pic>
    </p:spTree>
    <p:extLst>
      <p:ext uri="{BB962C8B-B14F-4D97-AF65-F5344CB8AC3E}">
        <p14:creationId xmlns:p14="http://schemas.microsoft.com/office/powerpoint/2010/main" val="1597802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9E137B-0341-5D3B-667F-DACDB4D3D48D}"/>
              </a:ext>
            </a:extLst>
          </p:cNvPr>
          <p:cNvCxnSpPr>
            <a:cxnSpLocks/>
          </p:cNvCxnSpPr>
          <p:nvPr/>
        </p:nvCxnSpPr>
        <p:spPr>
          <a:xfrm>
            <a:off x="339365" y="914399"/>
            <a:ext cx="11475562"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8F481A7-A444-24D1-D7D7-9E766F666713}"/>
              </a:ext>
            </a:extLst>
          </p:cNvPr>
          <p:cNvSpPr txBox="1"/>
          <p:nvPr/>
        </p:nvSpPr>
        <p:spPr>
          <a:xfrm>
            <a:off x="358219" y="372735"/>
            <a:ext cx="6457360" cy="461665"/>
          </a:xfrm>
          <a:prstGeom prst="rect">
            <a:avLst/>
          </a:prstGeom>
          <a:noFill/>
        </p:spPr>
        <p:txBody>
          <a:bodyPr wrap="square" rtlCol="0">
            <a:spAutoFit/>
          </a:bodyPr>
          <a:lstStyle/>
          <a:p>
            <a:r>
              <a:rPr lang="en-IN" sz="2400" b="1" dirty="0">
                <a:solidFill>
                  <a:srgbClr val="FF0000"/>
                </a:solidFill>
              </a:rPr>
              <a:t>Modelling Approaches</a:t>
            </a:r>
          </a:p>
        </p:txBody>
      </p:sp>
      <p:sp>
        <p:nvSpPr>
          <p:cNvPr id="3" name="TextBox 2">
            <a:extLst>
              <a:ext uri="{FF2B5EF4-FFF2-40B4-BE49-F238E27FC236}">
                <a16:creationId xmlns:a16="http://schemas.microsoft.com/office/drawing/2014/main" id="{04876255-30E0-54B2-5DE8-CB7B950C859E}"/>
              </a:ext>
            </a:extLst>
          </p:cNvPr>
          <p:cNvSpPr txBox="1"/>
          <p:nvPr/>
        </p:nvSpPr>
        <p:spPr>
          <a:xfrm>
            <a:off x="339365" y="1130404"/>
            <a:ext cx="11475561" cy="5601533"/>
          </a:xfrm>
          <a:prstGeom prst="rect">
            <a:avLst/>
          </a:prstGeom>
          <a:noFill/>
        </p:spPr>
        <p:txBody>
          <a:bodyPr wrap="square" rtlCol="0">
            <a:spAutoFit/>
          </a:bodyPr>
          <a:lstStyle/>
          <a:p>
            <a:r>
              <a:rPr lang="en-IN" sz="1400" dirty="0">
                <a:solidFill>
                  <a:srgbClr val="4472C4"/>
                </a:solidFill>
                <a:latin typeface="Times New Roman" panose="02020603050405020304" pitchFamily="18" charset="0"/>
              </a:rPr>
              <a:t>For our given problem statement, we have to perform a classification based modelling approach which would predict whether an account is going to churn or not based on the features that are present.</a:t>
            </a:r>
          </a:p>
          <a:p>
            <a:endParaRPr lang="en-IN" sz="1400" dirty="0">
              <a:solidFill>
                <a:srgbClr val="4472C4"/>
              </a:solidFill>
              <a:latin typeface="Times New Roman" panose="02020603050405020304" pitchFamily="18" charset="0"/>
            </a:endParaRPr>
          </a:p>
          <a:p>
            <a:r>
              <a:rPr lang="en-IN" sz="1400" dirty="0">
                <a:solidFill>
                  <a:srgbClr val="4472C4"/>
                </a:solidFill>
                <a:latin typeface="Times New Roman" panose="02020603050405020304" pitchFamily="18" charset="0"/>
              </a:rPr>
              <a:t>We perform the following techniques for classification:</a:t>
            </a:r>
          </a:p>
          <a:p>
            <a:endParaRPr lang="en-IN" sz="1400" dirty="0">
              <a:solidFill>
                <a:srgbClr val="4472C4"/>
              </a:solidFill>
              <a:latin typeface="Times New Roman" panose="02020603050405020304" pitchFamily="18" charset="0"/>
            </a:endParaRPr>
          </a:p>
          <a:p>
            <a:pPr marL="285750" indent="-285750">
              <a:buFont typeface="Arial" panose="020B0604020202020204" pitchFamily="34" charset="0"/>
              <a:buChar char="•"/>
            </a:pPr>
            <a:r>
              <a:rPr lang="en-IN" sz="1400" b="1" u="sng" dirty="0">
                <a:solidFill>
                  <a:srgbClr val="4472C4"/>
                </a:solidFill>
                <a:latin typeface="Times New Roman" panose="02020603050405020304" pitchFamily="18" charset="0"/>
              </a:rPr>
              <a:t>Naïve Bayes:</a:t>
            </a:r>
            <a:r>
              <a:rPr lang="en-IN" sz="1400" dirty="0">
                <a:solidFill>
                  <a:srgbClr val="4472C4"/>
                </a:solidFill>
                <a:latin typeface="Times New Roman" panose="02020603050405020304" pitchFamily="18" charset="0"/>
              </a:rPr>
              <a:t>	The Nave Bayes Classifier is a simple and effective classification method that aids in the development of fast machine learning models capable of making quick predictions. We get an 74% accuracy using our default LDA model on our train data whereas for our test data we get an accuracy score of 66%.</a:t>
            </a:r>
            <a:br>
              <a:rPr lang="en-IN" sz="1400" dirty="0">
                <a:solidFill>
                  <a:srgbClr val="4472C4"/>
                </a:solidFill>
                <a:latin typeface="Times New Roman" panose="02020603050405020304" pitchFamily="18" charset="0"/>
              </a:rPr>
            </a:br>
            <a:endParaRPr lang="en-IN" sz="1400" dirty="0">
              <a:solidFill>
                <a:srgbClr val="4472C4"/>
              </a:solidFill>
              <a:latin typeface="Times New Roman" panose="02020603050405020304" pitchFamily="18" charset="0"/>
            </a:endParaRPr>
          </a:p>
          <a:p>
            <a:pPr marL="285750" indent="-285750">
              <a:buFont typeface="Arial" panose="020B0604020202020204" pitchFamily="34" charset="0"/>
              <a:buChar char="•"/>
            </a:pPr>
            <a:r>
              <a:rPr lang="en-IN" sz="1400" b="1" u="sng" dirty="0">
                <a:solidFill>
                  <a:srgbClr val="4472C4"/>
                </a:solidFill>
                <a:latin typeface="Times New Roman" panose="02020603050405020304" pitchFamily="18" charset="0"/>
              </a:rPr>
              <a:t>KNN:</a:t>
            </a:r>
            <a:r>
              <a:rPr lang="en-IN" sz="1400" dirty="0">
                <a:solidFill>
                  <a:srgbClr val="4472C4"/>
                </a:solidFill>
                <a:latin typeface="Times New Roman" panose="02020603050405020304" pitchFamily="18" charset="0"/>
              </a:rPr>
              <a:t>	The K-Nearest Neighbour algorithm is based on the Supervised Learning technique and is one of the most basic Machine Learning algorithms. We get a 93% accuracy using our default KNN model on our train data whereas for our test data we get an accuracy score of 80%.</a:t>
            </a:r>
            <a:br>
              <a:rPr lang="en-IN" sz="1400" dirty="0">
                <a:solidFill>
                  <a:srgbClr val="4472C4"/>
                </a:solidFill>
                <a:latin typeface="Times New Roman" panose="02020603050405020304" pitchFamily="18" charset="0"/>
              </a:rPr>
            </a:br>
            <a:endParaRPr lang="en-IN" sz="1400" dirty="0">
              <a:solidFill>
                <a:srgbClr val="4472C4"/>
              </a:solidFill>
              <a:latin typeface="Times New Roman" panose="02020603050405020304" pitchFamily="18" charset="0"/>
            </a:endParaRPr>
          </a:p>
          <a:p>
            <a:pPr marL="285750" indent="-285750">
              <a:buFont typeface="Arial" panose="020B0604020202020204" pitchFamily="34" charset="0"/>
              <a:buChar char="•"/>
            </a:pPr>
            <a:r>
              <a:rPr lang="en-IN" sz="1400" b="1" u="sng" dirty="0">
                <a:solidFill>
                  <a:srgbClr val="4472C4"/>
                </a:solidFill>
                <a:latin typeface="Times New Roman" panose="02020603050405020304" pitchFamily="18" charset="0"/>
              </a:rPr>
              <a:t>Random Forest:</a:t>
            </a:r>
            <a:r>
              <a:rPr lang="en-IN" sz="1400" dirty="0">
                <a:solidFill>
                  <a:srgbClr val="4472C4"/>
                </a:solidFill>
                <a:latin typeface="Times New Roman" panose="02020603050405020304" pitchFamily="18" charset="0"/>
              </a:rPr>
              <a:t> Random forest is a machine learning technique that combines several base models in order to produce one optimal predictive model. We get a 100% accuracy using our RF model on our train data whereas for our test data we get an accuracy score of 85%.</a:t>
            </a:r>
            <a:br>
              <a:rPr lang="en-IN" sz="1400" dirty="0">
                <a:solidFill>
                  <a:srgbClr val="4472C4"/>
                </a:solidFill>
                <a:latin typeface="Times New Roman" panose="02020603050405020304" pitchFamily="18" charset="0"/>
              </a:rPr>
            </a:br>
            <a:endParaRPr lang="en-IN" sz="1400" dirty="0">
              <a:solidFill>
                <a:srgbClr val="4472C4"/>
              </a:solidFill>
              <a:latin typeface="Times New Roman" panose="02020603050405020304" pitchFamily="18" charset="0"/>
            </a:endParaRPr>
          </a:p>
          <a:p>
            <a:pPr marL="285750" indent="-285750">
              <a:buFont typeface="Arial" panose="020B0604020202020204" pitchFamily="34" charset="0"/>
              <a:buChar char="•"/>
            </a:pPr>
            <a:r>
              <a:rPr lang="en-IN" sz="1400" b="1" u="sng" dirty="0">
                <a:solidFill>
                  <a:srgbClr val="4472C4"/>
                </a:solidFill>
                <a:latin typeface="Times New Roman" panose="02020603050405020304" pitchFamily="18" charset="0"/>
              </a:rPr>
              <a:t>Linear Discriminant Analysis (LDA):</a:t>
            </a:r>
            <a:r>
              <a:rPr lang="en-IN" sz="1400" dirty="0">
                <a:solidFill>
                  <a:srgbClr val="4472C4"/>
                </a:solidFill>
                <a:latin typeface="Times New Roman" panose="02020603050405020304" pitchFamily="18" charset="0"/>
              </a:rPr>
              <a:t>	Discriminant analysis creates a model to predict future observations where the classes are known. LDA uses a linear combination of independent variables to predict the class in the response variable of a given observation. We get an 81% accuracy using our default LDA model on our train data whereas for our test data we get an accuracy score of 79%.</a:t>
            </a:r>
            <a:br>
              <a:rPr lang="en-IN" sz="1400" dirty="0">
                <a:solidFill>
                  <a:srgbClr val="4472C4"/>
                </a:solidFill>
                <a:latin typeface="Times New Roman" panose="02020603050405020304" pitchFamily="18" charset="0"/>
              </a:rPr>
            </a:br>
            <a:endParaRPr lang="en-IN" sz="1400" dirty="0">
              <a:solidFill>
                <a:srgbClr val="4472C4"/>
              </a:solidFill>
              <a:latin typeface="Times New Roman" panose="02020603050405020304" pitchFamily="18" charset="0"/>
            </a:endParaRPr>
          </a:p>
          <a:p>
            <a:pPr marL="285750" indent="-285750">
              <a:buFont typeface="Arial" panose="020B0604020202020204" pitchFamily="34" charset="0"/>
              <a:buChar char="•"/>
            </a:pPr>
            <a:r>
              <a:rPr lang="en-IN" sz="1400" b="1" u="sng" dirty="0">
                <a:solidFill>
                  <a:srgbClr val="4472C4"/>
                </a:solidFill>
                <a:latin typeface="Times New Roman" panose="02020603050405020304" pitchFamily="18" charset="0"/>
              </a:rPr>
              <a:t>Logistic Regression:</a:t>
            </a:r>
            <a:r>
              <a:rPr lang="en-IN" sz="1400" dirty="0">
                <a:solidFill>
                  <a:srgbClr val="4472C4"/>
                </a:solidFill>
                <a:latin typeface="Times New Roman" panose="02020603050405020304" pitchFamily="18" charset="0"/>
              </a:rPr>
              <a:t>	 Logistic Regression is used in statistical software to understand the relationship between the dependent variable and one or more independent variables by estimating probabilities using a logistic regression equation. We get an 82% accuracy using our default LR model on our train data whereas for our test data we get an accuracy score of 79%.</a:t>
            </a:r>
            <a:br>
              <a:rPr lang="en-IN" sz="1400" dirty="0">
                <a:solidFill>
                  <a:srgbClr val="4472C4"/>
                </a:solidFill>
                <a:latin typeface="Times New Roman" panose="02020603050405020304" pitchFamily="18" charset="0"/>
              </a:rPr>
            </a:br>
            <a:endParaRPr lang="en-IN" sz="1400" dirty="0">
              <a:solidFill>
                <a:srgbClr val="4472C4"/>
              </a:solidFill>
              <a:latin typeface="Times New Roman" panose="02020603050405020304" pitchFamily="18" charset="0"/>
            </a:endParaRPr>
          </a:p>
          <a:p>
            <a:pPr marL="285750" indent="-285750">
              <a:buFont typeface="Arial" panose="020B0604020202020204" pitchFamily="34" charset="0"/>
              <a:buChar char="•"/>
            </a:pPr>
            <a:endParaRPr lang="en-IN" sz="1400" b="1" u="sng" dirty="0">
              <a:solidFill>
                <a:srgbClr val="4472C4"/>
              </a:solidFill>
              <a:latin typeface="Times New Roman" panose="02020603050405020304" pitchFamily="18" charset="0"/>
            </a:endParaRPr>
          </a:p>
          <a:p>
            <a:pPr marL="285750" indent="-285750">
              <a:buFont typeface="Arial" panose="020B0604020202020204" pitchFamily="34" charset="0"/>
              <a:buChar char="•"/>
            </a:pPr>
            <a:endParaRPr lang="en-IN" sz="1400" b="1" u="sng" dirty="0">
              <a:solidFill>
                <a:srgbClr val="4472C4"/>
              </a:solidFill>
              <a:latin typeface="Times New Roman" panose="02020603050405020304" pitchFamily="18" charset="0"/>
            </a:endParaRPr>
          </a:p>
        </p:txBody>
      </p:sp>
    </p:spTree>
    <p:extLst>
      <p:ext uri="{BB962C8B-B14F-4D97-AF65-F5344CB8AC3E}">
        <p14:creationId xmlns:p14="http://schemas.microsoft.com/office/powerpoint/2010/main" val="574132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9E137B-0341-5D3B-667F-DACDB4D3D48D}"/>
              </a:ext>
            </a:extLst>
          </p:cNvPr>
          <p:cNvCxnSpPr>
            <a:cxnSpLocks/>
          </p:cNvCxnSpPr>
          <p:nvPr/>
        </p:nvCxnSpPr>
        <p:spPr>
          <a:xfrm>
            <a:off x="339365" y="914399"/>
            <a:ext cx="11475562"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8F481A7-A444-24D1-D7D7-9E766F666713}"/>
              </a:ext>
            </a:extLst>
          </p:cNvPr>
          <p:cNvSpPr txBox="1"/>
          <p:nvPr/>
        </p:nvSpPr>
        <p:spPr>
          <a:xfrm>
            <a:off x="358219" y="372735"/>
            <a:ext cx="6457360" cy="461665"/>
          </a:xfrm>
          <a:prstGeom prst="rect">
            <a:avLst/>
          </a:prstGeom>
          <a:noFill/>
        </p:spPr>
        <p:txBody>
          <a:bodyPr wrap="square" rtlCol="0">
            <a:spAutoFit/>
          </a:bodyPr>
          <a:lstStyle/>
          <a:p>
            <a:r>
              <a:rPr lang="en-IN" sz="2400" b="1" dirty="0">
                <a:solidFill>
                  <a:srgbClr val="FF0000"/>
                </a:solidFill>
              </a:rPr>
              <a:t>Ensemble Techniques</a:t>
            </a:r>
          </a:p>
        </p:txBody>
      </p:sp>
      <p:sp>
        <p:nvSpPr>
          <p:cNvPr id="3" name="TextBox 2">
            <a:extLst>
              <a:ext uri="{FF2B5EF4-FFF2-40B4-BE49-F238E27FC236}">
                <a16:creationId xmlns:a16="http://schemas.microsoft.com/office/drawing/2014/main" id="{04876255-30E0-54B2-5DE8-CB7B950C859E}"/>
              </a:ext>
            </a:extLst>
          </p:cNvPr>
          <p:cNvSpPr txBox="1"/>
          <p:nvPr/>
        </p:nvSpPr>
        <p:spPr>
          <a:xfrm>
            <a:off x="339365" y="1281234"/>
            <a:ext cx="11475561" cy="3724096"/>
          </a:xfrm>
          <a:prstGeom prst="rect">
            <a:avLst/>
          </a:prstGeom>
          <a:noFill/>
        </p:spPr>
        <p:txBody>
          <a:bodyPr wrap="square" rtlCol="0">
            <a:spAutoFit/>
          </a:bodyPr>
          <a:lstStyle/>
          <a:p>
            <a:r>
              <a:rPr lang="en-US" sz="1400" dirty="0">
                <a:solidFill>
                  <a:srgbClr val="4472C4"/>
                </a:solidFill>
                <a:latin typeface="Times New Roman" panose="02020603050405020304" pitchFamily="18" charset="0"/>
              </a:rPr>
              <a:t>Ensemble methods are techniques that aim at improving the accuracy of results in models by combining multiple models instead of using a single model. The combined models increase the accuracy of the results significantly.</a:t>
            </a:r>
          </a:p>
          <a:p>
            <a:endParaRPr lang="en-IN" sz="1400" dirty="0">
              <a:solidFill>
                <a:srgbClr val="4472C4"/>
              </a:solidFill>
              <a:latin typeface="Times New Roman" panose="02020603050405020304" pitchFamily="18" charset="0"/>
            </a:endParaRPr>
          </a:p>
          <a:p>
            <a:r>
              <a:rPr lang="en-IN" sz="1400" dirty="0">
                <a:solidFill>
                  <a:srgbClr val="4472C4"/>
                </a:solidFill>
                <a:latin typeface="Times New Roman" panose="02020603050405020304" pitchFamily="18" charset="0"/>
              </a:rPr>
              <a:t>We perform the following ensemble techniques for classification:</a:t>
            </a:r>
          </a:p>
          <a:p>
            <a:endParaRPr lang="en-IN" sz="1400" dirty="0">
              <a:solidFill>
                <a:srgbClr val="4472C4"/>
              </a:solidFill>
              <a:latin typeface="Times New Roman" panose="02020603050405020304" pitchFamily="18" charset="0"/>
            </a:endParaRPr>
          </a:p>
          <a:p>
            <a:pPr marL="285750" indent="-285750">
              <a:buFont typeface="Arial" panose="020B0604020202020204" pitchFamily="34" charset="0"/>
              <a:buChar char="•"/>
            </a:pPr>
            <a:r>
              <a:rPr lang="en-IN" sz="1400" b="1" u="sng" dirty="0">
                <a:solidFill>
                  <a:srgbClr val="4472C4"/>
                </a:solidFill>
                <a:latin typeface="Times New Roman" panose="02020603050405020304" pitchFamily="18" charset="0"/>
              </a:rPr>
              <a:t>Bagging:</a:t>
            </a:r>
            <a:r>
              <a:rPr lang="en-IN" sz="1400" dirty="0">
                <a:solidFill>
                  <a:srgbClr val="4472C4"/>
                </a:solidFill>
                <a:latin typeface="Times New Roman" panose="02020603050405020304" pitchFamily="18" charset="0"/>
              </a:rPr>
              <a:t>   Bagging, also known as bootstrap aggregation, is the ensemble learning method that is commonly used to reduce variance within a noisy dataset. In bagging, a random sample of data in a training set is selected with replacement—meaning that the individual data points can be chosen more than once. We get an 83% accuracy using our Bagging model on our train data whereas for our test data we get an accuracy score of 83%.</a:t>
            </a:r>
            <a:br>
              <a:rPr lang="en-IN" sz="1400" dirty="0">
                <a:solidFill>
                  <a:srgbClr val="4472C4"/>
                </a:solidFill>
                <a:latin typeface="Times New Roman" panose="02020603050405020304" pitchFamily="18" charset="0"/>
              </a:rPr>
            </a:br>
            <a:endParaRPr lang="en-IN" sz="1400" dirty="0">
              <a:solidFill>
                <a:srgbClr val="4472C4"/>
              </a:solidFill>
              <a:latin typeface="Times New Roman" panose="02020603050405020304" pitchFamily="18" charset="0"/>
            </a:endParaRPr>
          </a:p>
          <a:p>
            <a:pPr marL="285750" indent="-285750">
              <a:buFont typeface="Arial" panose="020B0604020202020204" pitchFamily="34" charset="0"/>
              <a:buChar char="•"/>
            </a:pPr>
            <a:r>
              <a:rPr lang="en-IN" sz="1400" b="1" u="sng" dirty="0">
                <a:solidFill>
                  <a:srgbClr val="4472C4"/>
                </a:solidFill>
                <a:latin typeface="Times New Roman" panose="02020603050405020304" pitchFamily="18" charset="0"/>
              </a:rPr>
              <a:t>Adaptive Boosting:</a:t>
            </a:r>
            <a:r>
              <a:rPr lang="en-IN" sz="1400" dirty="0">
                <a:solidFill>
                  <a:srgbClr val="4472C4"/>
                </a:solidFill>
                <a:latin typeface="Times New Roman" panose="02020603050405020304" pitchFamily="18" charset="0"/>
              </a:rPr>
              <a:t>	</a:t>
            </a:r>
            <a:r>
              <a:rPr lang="en-IN" sz="1800" dirty="0">
                <a:solidFill>
                  <a:srgbClr val="4472C4"/>
                </a:solidFill>
                <a:effectLst/>
                <a:latin typeface="Times New Roman" panose="02020603050405020304" pitchFamily="18" charset="0"/>
                <a:ea typeface="Calibri" panose="020F0502020204030204" pitchFamily="34" charset="0"/>
              </a:rPr>
              <a:t> </a:t>
            </a:r>
            <a:r>
              <a:rPr lang="en-IN" sz="1400" dirty="0">
                <a:solidFill>
                  <a:srgbClr val="4472C4"/>
                </a:solidFill>
                <a:latin typeface="Times New Roman" panose="02020603050405020304" pitchFamily="18" charset="0"/>
              </a:rPr>
              <a:t>In Adaptive boosting, the successive learners are created with a focus on the ill fitted data of the previous learner. Each successive learner focuses more and more on the harder to fit data i.e. their residuals in the previous tree. We get an 87% accuracy using our Ada boosting model on our train data whereas for our test data we get an accuracy score of 84%.</a:t>
            </a:r>
            <a:br>
              <a:rPr lang="en-IN" sz="1400" dirty="0">
                <a:solidFill>
                  <a:srgbClr val="4472C4"/>
                </a:solidFill>
                <a:latin typeface="Times New Roman" panose="02020603050405020304" pitchFamily="18" charset="0"/>
              </a:rPr>
            </a:br>
            <a:endParaRPr lang="en-IN" sz="1400" dirty="0">
              <a:solidFill>
                <a:srgbClr val="4472C4"/>
              </a:solidFill>
              <a:latin typeface="Times New Roman" panose="02020603050405020304" pitchFamily="18" charset="0"/>
            </a:endParaRPr>
          </a:p>
          <a:p>
            <a:pPr marL="285750" indent="-285750">
              <a:buFont typeface="Arial" panose="020B0604020202020204" pitchFamily="34" charset="0"/>
              <a:buChar char="•"/>
            </a:pPr>
            <a:r>
              <a:rPr lang="en-IN" sz="1400" b="1" u="sng" dirty="0">
                <a:solidFill>
                  <a:srgbClr val="4472C4"/>
                </a:solidFill>
                <a:latin typeface="Times New Roman" panose="02020603050405020304" pitchFamily="18" charset="0"/>
              </a:rPr>
              <a:t>Gradient Boosting:</a:t>
            </a:r>
            <a:r>
              <a:rPr lang="en-IN" sz="1400" dirty="0">
                <a:solidFill>
                  <a:srgbClr val="4472C4"/>
                </a:solidFill>
                <a:latin typeface="Times New Roman" panose="02020603050405020304" pitchFamily="18" charset="0"/>
              </a:rPr>
              <a:t>	</a:t>
            </a:r>
            <a:r>
              <a:rPr lang="en-IN" sz="1800" dirty="0">
                <a:solidFill>
                  <a:srgbClr val="4472C4"/>
                </a:solidFill>
                <a:effectLst/>
                <a:latin typeface="Times New Roman" panose="02020603050405020304" pitchFamily="18" charset="0"/>
                <a:ea typeface="Calibri" panose="020F0502020204030204" pitchFamily="34" charset="0"/>
              </a:rPr>
              <a:t> </a:t>
            </a:r>
            <a:r>
              <a:rPr lang="en-IN" sz="1400" dirty="0">
                <a:solidFill>
                  <a:srgbClr val="4472C4"/>
                </a:solidFill>
                <a:latin typeface="Times New Roman" panose="02020603050405020304" pitchFamily="18" charset="0"/>
              </a:rPr>
              <a:t>In Gradient boosting, each learner is fit on a modified version of original data. By fitting new models to the residuals, the overall learner gradually improves in areas where residuals are initially high. We get an 90% accuracy using our Ada boosting model on our train data whereas for our test data we get an accuracy score of 87%.</a:t>
            </a:r>
            <a:endParaRPr lang="en-IN" sz="1400" b="1" u="sng" dirty="0">
              <a:solidFill>
                <a:srgbClr val="4472C4"/>
              </a:solidFill>
              <a:latin typeface="Times New Roman" panose="02020603050405020304" pitchFamily="18" charset="0"/>
            </a:endParaRPr>
          </a:p>
        </p:txBody>
      </p:sp>
    </p:spTree>
    <p:extLst>
      <p:ext uri="{BB962C8B-B14F-4D97-AF65-F5344CB8AC3E}">
        <p14:creationId xmlns:p14="http://schemas.microsoft.com/office/powerpoint/2010/main" val="1255845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9E137B-0341-5D3B-667F-DACDB4D3D48D}"/>
              </a:ext>
            </a:extLst>
          </p:cNvPr>
          <p:cNvCxnSpPr>
            <a:cxnSpLocks/>
          </p:cNvCxnSpPr>
          <p:nvPr/>
        </p:nvCxnSpPr>
        <p:spPr>
          <a:xfrm>
            <a:off x="339365" y="914399"/>
            <a:ext cx="11475562"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8F481A7-A444-24D1-D7D7-9E766F666713}"/>
              </a:ext>
            </a:extLst>
          </p:cNvPr>
          <p:cNvSpPr txBox="1"/>
          <p:nvPr/>
        </p:nvSpPr>
        <p:spPr>
          <a:xfrm>
            <a:off x="358219" y="372735"/>
            <a:ext cx="6457360" cy="461665"/>
          </a:xfrm>
          <a:prstGeom prst="rect">
            <a:avLst/>
          </a:prstGeom>
          <a:noFill/>
        </p:spPr>
        <p:txBody>
          <a:bodyPr wrap="square" rtlCol="0">
            <a:spAutoFit/>
          </a:bodyPr>
          <a:lstStyle/>
          <a:p>
            <a:r>
              <a:rPr lang="en-IN" sz="2400" b="1" dirty="0">
                <a:solidFill>
                  <a:srgbClr val="FF0000"/>
                </a:solidFill>
              </a:rPr>
              <a:t>Model Performance on Test Data</a:t>
            </a:r>
          </a:p>
        </p:txBody>
      </p:sp>
      <p:sp>
        <p:nvSpPr>
          <p:cNvPr id="2" name="TextBox 1">
            <a:extLst>
              <a:ext uri="{FF2B5EF4-FFF2-40B4-BE49-F238E27FC236}">
                <a16:creationId xmlns:a16="http://schemas.microsoft.com/office/drawing/2014/main" id="{D173F096-6B10-58CC-B221-C5623961E935}"/>
              </a:ext>
            </a:extLst>
          </p:cNvPr>
          <p:cNvSpPr txBox="1"/>
          <p:nvPr/>
        </p:nvSpPr>
        <p:spPr>
          <a:xfrm>
            <a:off x="358219" y="1084082"/>
            <a:ext cx="6457360" cy="338554"/>
          </a:xfrm>
          <a:prstGeom prst="rect">
            <a:avLst/>
          </a:prstGeom>
          <a:noFill/>
        </p:spPr>
        <p:txBody>
          <a:bodyPr wrap="square" rtlCol="0">
            <a:spAutoFit/>
          </a:bodyPr>
          <a:lstStyle/>
          <a:p>
            <a:r>
              <a:rPr lang="en-IN" sz="1600" dirty="0"/>
              <a:t>Checking the performance of different models on Test data set:</a:t>
            </a:r>
          </a:p>
        </p:txBody>
      </p:sp>
      <p:pic>
        <p:nvPicPr>
          <p:cNvPr id="8" name="Picture 7">
            <a:extLst>
              <a:ext uri="{FF2B5EF4-FFF2-40B4-BE49-F238E27FC236}">
                <a16:creationId xmlns:a16="http://schemas.microsoft.com/office/drawing/2014/main" id="{299BFC12-EB08-C095-EDF3-0570C8760E80}"/>
              </a:ext>
            </a:extLst>
          </p:cNvPr>
          <p:cNvPicPr>
            <a:picLocks noChangeAspect="1"/>
          </p:cNvPicPr>
          <p:nvPr/>
        </p:nvPicPr>
        <p:blipFill>
          <a:blip r:embed="rId2"/>
          <a:stretch>
            <a:fillRect/>
          </a:stretch>
        </p:blipFill>
        <p:spPr>
          <a:xfrm>
            <a:off x="6369370" y="1228974"/>
            <a:ext cx="4894034" cy="1835941"/>
          </a:xfrm>
          <a:prstGeom prst="rect">
            <a:avLst/>
          </a:prstGeom>
          <a:ln>
            <a:solidFill>
              <a:schemeClr val="tx1"/>
            </a:solidFill>
          </a:ln>
        </p:spPr>
      </p:pic>
      <p:sp>
        <p:nvSpPr>
          <p:cNvPr id="10" name="TextBox 9">
            <a:extLst>
              <a:ext uri="{FF2B5EF4-FFF2-40B4-BE49-F238E27FC236}">
                <a16:creationId xmlns:a16="http://schemas.microsoft.com/office/drawing/2014/main" id="{E915F625-2BF8-381C-DFCB-B6E64CB0D897}"/>
              </a:ext>
            </a:extLst>
          </p:cNvPr>
          <p:cNvSpPr txBox="1"/>
          <p:nvPr/>
        </p:nvSpPr>
        <p:spPr>
          <a:xfrm>
            <a:off x="358219" y="3111237"/>
            <a:ext cx="6457360" cy="338554"/>
          </a:xfrm>
          <a:prstGeom prst="rect">
            <a:avLst/>
          </a:prstGeom>
          <a:noFill/>
        </p:spPr>
        <p:txBody>
          <a:bodyPr wrap="square" rtlCol="0">
            <a:spAutoFit/>
          </a:bodyPr>
          <a:lstStyle/>
          <a:p>
            <a:r>
              <a:rPr lang="en-IN" sz="1600" dirty="0"/>
              <a:t>Checking the performance of different models using ROC curve:</a:t>
            </a:r>
          </a:p>
        </p:txBody>
      </p:sp>
      <p:pic>
        <p:nvPicPr>
          <p:cNvPr id="11" name="Picture 10">
            <a:extLst>
              <a:ext uri="{FF2B5EF4-FFF2-40B4-BE49-F238E27FC236}">
                <a16:creationId xmlns:a16="http://schemas.microsoft.com/office/drawing/2014/main" id="{F847CD54-C962-3F91-16A4-D21ECC318704}"/>
              </a:ext>
            </a:extLst>
          </p:cNvPr>
          <p:cNvPicPr>
            <a:picLocks noChangeAspect="1"/>
          </p:cNvPicPr>
          <p:nvPr/>
        </p:nvPicPr>
        <p:blipFill>
          <a:blip r:embed="rId3"/>
          <a:stretch>
            <a:fillRect/>
          </a:stretch>
        </p:blipFill>
        <p:spPr>
          <a:xfrm>
            <a:off x="6369370" y="3209807"/>
            <a:ext cx="4029897" cy="3229718"/>
          </a:xfrm>
          <a:prstGeom prst="rect">
            <a:avLst/>
          </a:prstGeom>
          <a:ln>
            <a:solidFill>
              <a:schemeClr val="tx1"/>
            </a:solidFill>
          </a:ln>
        </p:spPr>
      </p:pic>
    </p:spTree>
    <p:extLst>
      <p:ext uri="{BB962C8B-B14F-4D97-AF65-F5344CB8AC3E}">
        <p14:creationId xmlns:p14="http://schemas.microsoft.com/office/powerpoint/2010/main" val="2019532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9E137B-0341-5D3B-667F-DACDB4D3D48D}"/>
              </a:ext>
            </a:extLst>
          </p:cNvPr>
          <p:cNvCxnSpPr>
            <a:cxnSpLocks/>
          </p:cNvCxnSpPr>
          <p:nvPr/>
        </p:nvCxnSpPr>
        <p:spPr>
          <a:xfrm>
            <a:off x="339365" y="914399"/>
            <a:ext cx="11475562"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8F481A7-A444-24D1-D7D7-9E766F666713}"/>
              </a:ext>
            </a:extLst>
          </p:cNvPr>
          <p:cNvSpPr txBox="1"/>
          <p:nvPr/>
        </p:nvSpPr>
        <p:spPr>
          <a:xfrm>
            <a:off x="358219" y="372735"/>
            <a:ext cx="6457360" cy="461665"/>
          </a:xfrm>
          <a:prstGeom prst="rect">
            <a:avLst/>
          </a:prstGeom>
          <a:noFill/>
        </p:spPr>
        <p:txBody>
          <a:bodyPr wrap="square" rtlCol="0">
            <a:spAutoFit/>
          </a:bodyPr>
          <a:lstStyle/>
          <a:p>
            <a:r>
              <a:rPr lang="en-IN" sz="2400" b="1" dirty="0">
                <a:solidFill>
                  <a:srgbClr val="FF0000"/>
                </a:solidFill>
              </a:rPr>
              <a:t>Model Chosen to use &amp; Why?</a:t>
            </a:r>
          </a:p>
        </p:txBody>
      </p:sp>
      <p:sp>
        <p:nvSpPr>
          <p:cNvPr id="2" name="TextBox 1">
            <a:extLst>
              <a:ext uri="{FF2B5EF4-FFF2-40B4-BE49-F238E27FC236}">
                <a16:creationId xmlns:a16="http://schemas.microsoft.com/office/drawing/2014/main" id="{D173F096-6B10-58CC-B221-C5623961E935}"/>
              </a:ext>
            </a:extLst>
          </p:cNvPr>
          <p:cNvSpPr txBox="1"/>
          <p:nvPr/>
        </p:nvSpPr>
        <p:spPr>
          <a:xfrm>
            <a:off x="358219" y="1150069"/>
            <a:ext cx="11475561" cy="3689728"/>
          </a:xfrm>
          <a:prstGeom prst="rect">
            <a:avLst/>
          </a:prstGeom>
          <a:noFill/>
        </p:spPr>
        <p:txBody>
          <a:bodyPr wrap="square" rtlCol="0">
            <a:spAutoFit/>
          </a:bodyPr>
          <a:lstStyle/>
          <a:p>
            <a:pPr>
              <a:lnSpc>
                <a:spcPct val="107000"/>
              </a:lnSpc>
              <a:spcBef>
                <a:spcPts val="600"/>
              </a:spcBef>
              <a:spcAft>
                <a:spcPts val="600"/>
              </a:spcAft>
            </a:pPr>
            <a:r>
              <a:rPr lang="en-IN" sz="1400" dirty="0">
                <a:solidFill>
                  <a:srgbClr val="4472C4"/>
                </a:solidFill>
                <a:latin typeface="Times New Roman" panose="02020603050405020304" pitchFamily="18" charset="0"/>
              </a:rPr>
              <a:t>In our case, if the model predicts that a customer will not churn and in actuality it the customer churned; it will impact the business more. Therefore, recall values are the key for our dataset. We have to focus on getting a higher recall value from our algorithm.</a:t>
            </a:r>
          </a:p>
          <a:p>
            <a:pPr>
              <a:lnSpc>
                <a:spcPct val="107000"/>
              </a:lnSpc>
              <a:spcBef>
                <a:spcPts val="600"/>
              </a:spcBef>
              <a:spcAft>
                <a:spcPts val="600"/>
              </a:spcAft>
            </a:pPr>
            <a:endParaRPr lang="en-IN" sz="1400" dirty="0">
              <a:solidFill>
                <a:srgbClr val="4472C4"/>
              </a:solidFill>
              <a:latin typeface="Times New Roman" panose="02020603050405020304" pitchFamily="18" charset="0"/>
            </a:endParaRPr>
          </a:p>
          <a:p>
            <a:pPr>
              <a:lnSpc>
                <a:spcPct val="107000"/>
              </a:lnSpc>
              <a:spcBef>
                <a:spcPts val="600"/>
              </a:spcBef>
              <a:spcAft>
                <a:spcPts val="600"/>
              </a:spcAft>
            </a:pPr>
            <a:r>
              <a:rPr lang="en-IN" sz="1400" b="1" u="sng" dirty="0">
                <a:solidFill>
                  <a:srgbClr val="4472C4"/>
                </a:solidFill>
                <a:latin typeface="Times New Roman" panose="02020603050405020304" pitchFamily="18" charset="0"/>
              </a:rPr>
              <a:t>Considering the different Parameters:</a:t>
            </a:r>
            <a:r>
              <a:rPr lang="en-IN" sz="1400" dirty="0">
                <a:solidFill>
                  <a:srgbClr val="4472C4"/>
                </a:solidFill>
                <a:latin typeface="Times New Roman" panose="02020603050405020304" pitchFamily="18" charset="0"/>
              </a:rPr>
              <a:t>	Looking into the table on the previous slide, we can see that different parameters provide the best values for Gradient Boosting model. Gradient boosting has the highest overall values and is hence the best working model for our churn prediction.</a:t>
            </a:r>
          </a:p>
          <a:p>
            <a:pPr>
              <a:lnSpc>
                <a:spcPct val="107000"/>
              </a:lnSpc>
              <a:spcBef>
                <a:spcPts val="600"/>
              </a:spcBef>
              <a:spcAft>
                <a:spcPts val="600"/>
              </a:spcAft>
            </a:pPr>
            <a:endParaRPr lang="en-IN" sz="1400" dirty="0">
              <a:solidFill>
                <a:srgbClr val="4472C4"/>
              </a:solidFill>
              <a:latin typeface="Times New Roman" panose="02020603050405020304" pitchFamily="18" charset="0"/>
            </a:endParaRPr>
          </a:p>
          <a:p>
            <a:pPr>
              <a:lnSpc>
                <a:spcPct val="107000"/>
              </a:lnSpc>
              <a:spcBef>
                <a:spcPts val="600"/>
              </a:spcBef>
              <a:spcAft>
                <a:spcPts val="600"/>
              </a:spcAft>
            </a:pPr>
            <a:r>
              <a:rPr lang="en-IN" sz="1400" b="1" u="sng" dirty="0">
                <a:solidFill>
                  <a:srgbClr val="4472C4"/>
                </a:solidFill>
                <a:latin typeface="Times New Roman" panose="02020603050405020304" pitchFamily="18" charset="0"/>
              </a:rPr>
              <a:t>Considering ROC curve:</a:t>
            </a:r>
            <a:r>
              <a:rPr lang="en-IN" sz="1400" dirty="0">
                <a:solidFill>
                  <a:srgbClr val="4472C4"/>
                </a:solidFill>
                <a:latin typeface="Times New Roman" panose="02020603050405020304" pitchFamily="18" charset="0"/>
              </a:rPr>
              <a:t>	Looking into the ROC curves in the previous slide as well for test data, we can see that Gradient boosting has the max area under the curve and stands out of the rest of the models. 91% area is approximately covered by Gradient boosting model.</a:t>
            </a:r>
          </a:p>
          <a:p>
            <a:pPr>
              <a:lnSpc>
                <a:spcPct val="107000"/>
              </a:lnSpc>
              <a:spcBef>
                <a:spcPts val="600"/>
              </a:spcBef>
              <a:spcAft>
                <a:spcPts val="600"/>
              </a:spcAft>
            </a:pPr>
            <a:endParaRPr lang="en-IN" sz="1400" b="1" u="sng" dirty="0">
              <a:solidFill>
                <a:srgbClr val="4472C4"/>
              </a:solidFill>
              <a:latin typeface="Times New Roman" panose="02020603050405020304" pitchFamily="18" charset="0"/>
            </a:endParaRPr>
          </a:p>
          <a:p>
            <a:pPr>
              <a:lnSpc>
                <a:spcPct val="107000"/>
              </a:lnSpc>
              <a:spcBef>
                <a:spcPts val="600"/>
              </a:spcBef>
              <a:spcAft>
                <a:spcPts val="600"/>
              </a:spcAft>
            </a:pPr>
            <a:r>
              <a:rPr lang="en-IN" sz="1400" dirty="0">
                <a:solidFill>
                  <a:srgbClr val="4472C4"/>
                </a:solidFill>
                <a:latin typeface="Times New Roman" panose="02020603050405020304" pitchFamily="18" charset="0"/>
              </a:rPr>
              <a:t>Keeping the above details in mind, we can confidently say that </a:t>
            </a:r>
            <a:r>
              <a:rPr lang="en-IN" sz="1400" b="1" u="sng" dirty="0">
                <a:solidFill>
                  <a:srgbClr val="4472C4"/>
                </a:solidFill>
                <a:latin typeface="Times New Roman" panose="02020603050405020304" pitchFamily="18" charset="0"/>
              </a:rPr>
              <a:t>Gradient boosting</a:t>
            </a:r>
            <a:r>
              <a:rPr lang="en-IN" sz="1400" dirty="0">
                <a:solidFill>
                  <a:srgbClr val="4472C4"/>
                </a:solidFill>
                <a:latin typeface="Times New Roman" panose="02020603050405020304" pitchFamily="18" charset="0"/>
              </a:rPr>
              <a:t> is the best performing model on our churn dataset.</a:t>
            </a:r>
          </a:p>
          <a:p>
            <a:pPr>
              <a:lnSpc>
                <a:spcPct val="107000"/>
              </a:lnSpc>
              <a:spcBef>
                <a:spcPts val="600"/>
              </a:spcBef>
              <a:spcAft>
                <a:spcPts val="600"/>
              </a:spcAft>
            </a:pPr>
            <a:endParaRPr lang="en-IN" sz="1400" dirty="0">
              <a:solidFill>
                <a:srgbClr val="4472C4"/>
              </a:solidFill>
              <a:latin typeface="Times New Roman" panose="02020603050405020304" pitchFamily="18" charset="0"/>
            </a:endParaRPr>
          </a:p>
        </p:txBody>
      </p:sp>
    </p:spTree>
    <p:extLst>
      <p:ext uri="{BB962C8B-B14F-4D97-AF65-F5344CB8AC3E}">
        <p14:creationId xmlns:p14="http://schemas.microsoft.com/office/powerpoint/2010/main" val="255272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9E137B-0341-5D3B-667F-DACDB4D3D48D}"/>
              </a:ext>
            </a:extLst>
          </p:cNvPr>
          <p:cNvCxnSpPr>
            <a:cxnSpLocks/>
          </p:cNvCxnSpPr>
          <p:nvPr/>
        </p:nvCxnSpPr>
        <p:spPr>
          <a:xfrm>
            <a:off x="339365" y="914399"/>
            <a:ext cx="11475562"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8F481A7-A444-24D1-D7D7-9E766F666713}"/>
              </a:ext>
            </a:extLst>
          </p:cNvPr>
          <p:cNvSpPr txBox="1"/>
          <p:nvPr/>
        </p:nvSpPr>
        <p:spPr>
          <a:xfrm>
            <a:off x="358219" y="372735"/>
            <a:ext cx="6457360" cy="461665"/>
          </a:xfrm>
          <a:prstGeom prst="rect">
            <a:avLst/>
          </a:prstGeom>
          <a:noFill/>
        </p:spPr>
        <p:txBody>
          <a:bodyPr wrap="square" rtlCol="0">
            <a:spAutoFit/>
          </a:bodyPr>
          <a:lstStyle/>
          <a:p>
            <a:r>
              <a:rPr lang="en-IN" sz="2400" b="1" dirty="0">
                <a:solidFill>
                  <a:srgbClr val="FF0000"/>
                </a:solidFill>
              </a:rPr>
              <a:t>Insights</a:t>
            </a:r>
          </a:p>
        </p:txBody>
      </p:sp>
      <p:cxnSp>
        <p:nvCxnSpPr>
          <p:cNvPr id="6" name="Straight Connector 5">
            <a:extLst>
              <a:ext uri="{FF2B5EF4-FFF2-40B4-BE49-F238E27FC236}">
                <a16:creationId xmlns:a16="http://schemas.microsoft.com/office/drawing/2014/main" id="{B8F58F6F-048D-AFC6-D6E1-6EE74B19B10D}"/>
              </a:ext>
            </a:extLst>
          </p:cNvPr>
          <p:cNvCxnSpPr>
            <a:cxnSpLocks/>
          </p:cNvCxnSpPr>
          <p:nvPr/>
        </p:nvCxnSpPr>
        <p:spPr>
          <a:xfrm>
            <a:off x="6457356" y="1064416"/>
            <a:ext cx="0" cy="5437696"/>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3" name="TextBox 2">
            <a:extLst>
              <a:ext uri="{FF2B5EF4-FFF2-40B4-BE49-F238E27FC236}">
                <a16:creationId xmlns:a16="http://schemas.microsoft.com/office/drawing/2014/main" id="{EAB670E5-DEC2-BC60-AD0B-D91D5754DB42}"/>
              </a:ext>
            </a:extLst>
          </p:cNvPr>
          <p:cNvSpPr txBox="1"/>
          <p:nvPr/>
        </p:nvSpPr>
        <p:spPr>
          <a:xfrm>
            <a:off x="358219" y="1064416"/>
            <a:ext cx="6033149" cy="5440913"/>
          </a:xfrm>
          <a:prstGeom prst="rect">
            <a:avLst/>
          </a:prstGeom>
          <a:noFill/>
        </p:spPr>
        <p:txBody>
          <a:bodyPr wrap="square" rtlCol="0">
            <a:spAutoFit/>
          </a:bodyPr>
          <a:lstStyle/>
          <a:p>
            <a:pPr>
              <a:lnSpc>
                <a:spcPct val="107000"/>
              </a:lnSpc>
              <a:spcBef>
                <a:spcPts val="600"/>
              </a:spcBef>
              <a:spcAft>
                <a:spcPts val="600"/>
              </a:spcAft>
            </a:pPr>
            <a:r>
              <a:rPr lang="en-IN" sz="1600" u="sng" dirty="0"/>
              <a:t>Insights from EDA:</a:t>
            </a:r>
          </a:p>
          <a:p>
            <a:pPr marL="342900" lvl="0" indent="-342900">
              <a:lnSpc>
                <a:spcPct val="107000"/>
              </a:lnSpc>
              <a:spcBef>
                <a:spcPts val="600"/>
              </a:spcBef>
              <a:buFont typeface="Wingdings" panose="05000000000000000000" pitchFamily="2" charset="2"/>
              <a:buChar char=""/>
            </a:pPr>
            <a:r>
              <a:rPr lang="en-IN" sz="1400" dirty="0">
                <a:solidFill>
                  <a:srgbClr val="4472C4"/>
                </a:solidFill>
                <a:latin typeface="Times New Roman" panose="02020603050405020304" pitchFamily="18" charset="0"/>
              </a:rPr>
              <a:t>Tier 2 cities have the lowest number of accounts while tier 1 cities have the most.</a:t>
            </a:r>
          </a:p>
          <a:p>
            <a:pPr marL="342900" lvl="0" indent="-342900">
              <a:lnSpc>
                <a:spcPct val="107000"/>
              </a:lnSpc>
              <a:buFont typeface="Wingdings" panose="05000000000000000000" pitchFamily="2" charset="2"/>
              <a:buChar char=""/>
            </a:pPr>
            <a:r>
              <a:rPr lang="en-IN" sz="1400" dirty="0">
                <a:solidFill>
                  <a:srgbClr val="4472C4"/>
                </a:solidFill>
                <a:latin typeface="Times New Roman" panose="02020603050405020304" pitchFamily="18" charset="0"/>
              </a:rPr>
              <a:t>UPI and E-wallet payments are very low as compared to payments made by debit and credit cards.</a:t>
            </a:r>
          </a:p>
          <a:p>
            <a:pPr marL="342900" lvl="0" indent="-342900">
              <a:lnSpc>
                <a:spcPct val="107000"/>
              </a:lnSpc>
              <a:buFont typeface="Wingdings" panose="05000000000000000000" pitchFamily="2" charset="2"/>
              <a:buChar char=""/>
            </a:pPr>
            <a:r>
              <a:rPr lang="en-IN" sz="1400" dirty="0">
                <a:solidFill>
                  <a:srgbClr val="4472C4"/>
                </a:solidFill>
                <a:latin typeface="Times New Roman" panose="02020603050405020304" pitchFamily="18" charset="0"/>
              </a:rPr>
              <a:t>Female primary account holders are lesser in number than Male primary account holder.</a:t>
            </a:r>
          </a:p>
          <a:p>
            <a:pPr marL="342900" lvl="0" indent="-342900">
              <a:lnSpc>
                <a:spcPct val="107000"/>
              </a:lnSpc>
              <a:buFont typeface="Wingdings" panose="05000000000000000000" pitchFamily="2" charset="2"/>
              <a:buChar char=""/>
            </a:pPr>
            <a:r>
              <a:rPr lang="en-IN" sz="1400" dirty="0">
                <a:solidFill>
                  <a:srgbClr val="4472C4"/>
                </a:solidFill>
                <a:latin typeface="Times New Roman" panose="02020603050405020304" pitchFamily="18" charset="0"/>
              </a:rPr>
              <a:t>A service satisfaction score of 3 is given by most of the customers. Score of 4 is less and 5 is only given by handful of customers.</a:t>
            </a:r>
          </a:p>
          <a:p>
            <a:pPr marL="342900" lvl="0" indent="-342900">
              <a:lnSpc>
                <a:spcPct val="107000"/>
              </a:lnSpc>
              <a:buFont typeface="Wingdings" panose="05000000000000000000" pitchFamily="2" charset="2"/>
              <a:buChar char=""/>
            </a:pPr>
            <a:r>
              <a:rPr lang="en-IN" sz="1400" dirty="0">
                <a:solidFill>
                  <a:srgbClr val="4472C4"/>
                </a:solidFill>
                <a:latin typeface="Times New Roman" panose="02020603050405020304" pitchFamily="18" charset="0"/>
              </a:rPr>
              <a:t>Most customers are Regular plus and Super segmented. The company has less customers for HNI, Super plus and Regular.</a:t>
            </a:r>
          </a:p>
          <a:p>
            <a:pPr marL="342900" lvl="0" indent="-342900">
              <a:lnSpc>
                <a:spcPct val="107000"/>
              </a:lnSpc>
              <a:buFont typeface="Wingdings" panose="05000000000000000000" pitchFamily="2" charset="2"/>
              <a:buChar char=""/>
            </a:pPr>
            <a:r>
              <a:rPr lang="en-IN" sz="1400" dirty="0">
                <a:solidFill>
                  <a:srgbClr val="4472C4"/>
                </a:solidFill>
                <a:latin typeface="Times New Roman" panose="02020603050405020304" pitchFamily="18" charset="0"/>
              </a:rPr>
              <a:t>Customer care service scores given by customers vary from 1 to 5. A score of 1, 2 and 3 was given by more than 6000 customers. </a:t>
            </a:r>
          </a:p>
          <a:p>
            <a:pPr marL="342900" lvl="0" indent="-342900">
              <a:lnSpc>
                <a:spcPct val="107000"/>
              </a:lnSpc>
              <a:buFont typeface="Wingdings" panose="05000000000000000000" pitchFamily="2" charset="2"/>
              <a:buChar char=""/>
            </a:pPr>
            <a:r>
              <a:rPr lang="en-IN" sz="1400" dirty="0">
                <a:solidFill>
                  <a:srgbClr val="4472C4"/>
                </a:solidFill>
                <a:latin typeface="Times New Roman" panose="02020603050405020304" pitchFamily="18" charset="0"/>
              </a:rPr>
              <a:t>The tenure of accounts which churned is lower than the tenure of accounts which did not.</a:t>
            </a:r>
          </a:p>
          <a:p>
            <a:pPr marL="342900" lvl="0" indent="-342900">
              <a:lnSpc>
                <a:spcPct val="107000"/>
              </a:lnSpc>
              <a:buFont typeface="Wingdings" panose="05000000000000000000" pitchFamily="2" charset="2"/>
              <a:buChar char=""/>
            </a:pPr>
            <a:r>
              <a:rPr lang="en-IN" sz="1400" dirty="0">
                <a:solidFill>
                  <a:srgbClr val="4472C4"/>
                </a:solidFill>
                <a:latin typeface="Times New Roman" panose="02020603050405020304" pitchFamily="18" charset="0"/>
              </a:rPr>
              <a:t>The accounts which churned have a greater number of customers tagged under them as compared to the accounts which have not churned.</a:t>
            </a:r>
          </a:p>
          <a:p>
            <a:pPr marL="342900" lvl="0" indent="-342900">
              <a:lnSpc>
                <a:spcPct val="107000"/>
              </a:lnSpc>
              <a:spcAft>
                <a:spcPts val="600"/>
              </a:spcAft>
              <a:buFont typeface="Wingdings" panose="05000000000000000000" pitchFamily="2" charset="2"/>
              <a:buChar char=""/>
            </a:pPr>
            <a:r>
              <a:rPr lang="en-IN" sz="1400" dirty="0">
                <a:solidFill>
                  <a:srgbClr val="4472C4"/>
                </a:solidFill>
                <a:latin typeface="Times New Roman" panose="02020603050405020304" pitchFamily="18" charset="0"/>
              </a:rPr>
              <a:t>The customers who churned have a lower sum of days of last connect with customer care as compared to customers who did not churn. That means dissatisfied people have contacted customer care more frequently than the ones who did not churn.</a:t>
            </a:r>
          </a:p>
          <a:p>
            <a:endParaRPr lang="en-IN" dirty="0"/>
          </a:p>
        </p:txBody>
      </p:sp>
      <p:sp>
        <p:nvSpPr>
          <p:cNvPr id="8" name="TextBox 7">
            <a:extLst>
              <a:ext uri="{FF2B5EF4-FFF2-40B4-BE49-F238E27FC236}">
                <a16:creationId xmlns:a16="http://schemas.microsoft.com/office/drawing/2014/main" id="{75106103-A1B4-F055-2B5E-55B3409BEB9E}"/>
              </a:ext>
            </a:extLst>
          </p:cNvPr>
          <p:cNvSpPr txBox="1"/>
          <p:nvPr/>
        </p:nvSpPr>
        <p:spPr>
          <a:xfrm>
            <a:off x="6636469" y="1064416"/>
            <a:ext cx="5178458" cy="3341749"/>
          </a:xfrm>
          <a:prstGeom prst="rect">
            <a:avLst/>
          </a:prstGeom>
          <a:noFill/>
        </p:spPr>
        <p:txBody>
          <a:bodyPr wrap="square" rtlCol="0">
            <a:spAutoFit/>
          </a:bodyPr>
          <a:lstStyle/>
          <a:p>
            <a:pPr>
              <a:lnSpc>
                <a:spcPct val="107000"/>
              </a:lnSpc>
              <a:spcBef>
                <a:spcPts val="600"/>
              </a:spcBef>
              <a:spcAft>
                <a:spcPts val="600"/>
              </a:spcAft>
            </a:pPr>
            <a:r>
              <a:rPr lang="en-IN" sz="1600" u="sng" dirty="0"/>
              <a:t>Insights from Model Building:</a:t>
            </a:r>
          </a:p>
          <a:p>
            <a:pPr marL="342900" lvl="0" indent="-342900">
              <a:lnSpc>
                <a:spcPct val="107000"/>
              </a:lnSpc>
              <a:spcBef>
                <a:spcPts val="600"/>
              </a:spcBef>
              <a:buFont typeface="Wingdings" panose="05000000000000000000" pitchFamily="2" charset="2"/>
              <a:buChar char=""/>
            </a:pPr>
            <a:r>
              <a:rPr lang="en-IN" sz="1400" dirty="0">
                <a:solidFill>
                  <a:srgbClr val="4472C4"/>
                </a:solidFill>
                <a:latin typeface="Times New Roman" panose="02020603050405020304" pitchFamily="18" charset="0"/>
              </a:rPr>
              <a:t>Choose Gradient Boosting model for getting the performance on our Customer churn dataset.</a:t>
            </a:r>
          </a:p>
          <a:p>
            <a:pPr marL="342900" indent="-342900">
              <a:lnSpc>
                <a:spcPct val="107000"/>
              </a:lnSpc>
              <a:spcBef>
                <a:spcPts val="600"/>
              </a:spcBef>
              <a:buFont typeface="Wingdings" panose="05000000000000000000" pitchFamily="2" charset="2"/>
              <a:buChar char=""/>
            </a:pPr>
            <a:r>
              <a:rPr lang="en-IN" sz="1400" dirty="0">
                <a:solidFill>
                  <a:srgbClr val="4472C4"/>
                </a:solidFill>
                <a:latin typeface="Times New Roman" panose="02020603050405020304" pitchFamily="18" charset="0"/>
              </a:rPr>
              <a:t>The model built will help the business in predicting the accounts who might churn based on the characteristics of the customers.</a:t>
            </a:r>
          </a:p>
          <a:p>
            <a:pPr marL="342900" indent="-342900">
              <a:lnSpc>
                <a:spcPct val="107000"/>
              </a:lnSpc>
              <a:spcBef>
                <a:spcPts val="600"/>
              </a:spcBef>
              <a:buFont typeface="Wingdings" panose="05000000000000000000" pitchFamily="2" charset="2"/>
              <a:buChar char=""/>
            </a:pPr>
            <a:r>
              <a:rPr lang="en-IN" sz="1400" dirty="0">
                <a:solidFill>
                  <a:srgbClr val="4472C4"/>
                </a:solidFill>
                <a:latin typeface="Times New Roman" panose="02020603050405020304" pitchFamily="18" charset="0"/>
              </a:rPr>
              <a:t>The business would in turn take pro-active measures for the customers so that the attrition rate could be lessened.</a:t>
            </a:r>
          </a:p>
          <a:p>
            <a:pPr marL="342900" indent="-342900">
              <a:lnSpc>
                <a:spcPct val="107000"/>
              </a:lnSpc>
              <a:spcBef>
                <a:spcPts val="600"/>
              </a:spcBef>
              <a:buFont typeface="Wingdings" panose="05000000000000000000" pitchFamily="2" charset="2"/>
              <a:buChar char=""/>
            </a:pPr>
            <a:r>
              <a:rPr lang="en-IN" sz="1400" dirty="0">
                <a:solidFill>
                  <a:srgbClr val="4472C4"/>
                </a:solidFill>
                <a:latin typeface="Times New Roman" panose="02020603050405020304" pitchFamily="18" charset="0"/>
              </a:rPr>
              <a:t>Tenure seems to be the feature with highest importance. Business should focus on tenure of accounts as much as possible.</a:t>
            </a:r>
          </a:p>
          <a:p>
            <a:pPr marL="342900" indent="-342900">
              <a:lnSpc>
                <a:spcPct val="107000"/>
              </a:lnSpc>
              <a:spcBef>
                <a:spcPts val="600"/>
              </a:spcBef>
              <a:buFont typeface="Wingdings" panose="05000000000000000000" pitchFamily="2" charset="2"/>
              <a:buChar char=""/>
            </a:pPr>
            <a:r>
              <a:rPr lang="en-IN" sz="1400" dirty="0">
                <a:solidFill>
                  <a:srgbClr val="4472C4"/>
                </a:solidFill>
                <a:latin typeface="Times New Roman" panose="02020603050405020304" pitchFamily="18" charset="0"/>
              </a:rPr>
              <a:t>Marital status and payment methods also have high importance in model building so they should also be taken care of.</a:t>
            </a:r>
            <a:endParaRPr lang="en-IN" dirty="0"/>
          </a:p>
        </p:txBody>
      </p:sp>
    </p:spTree>
    <p:extLst>
      <p:ext uri="{BB962C8B-B14F-4D97-AF65-F5344CB8AC3E}">
        <p14:creationId xmlns:p14="http://schemas.microsoft.com/office/powerpoint/2010/main" val="816965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9E137B-0341-5D3B-667F-DACDB4D3D48D}"/>
              </a:ext>
            </a:extLst>
          </p:cNvPr>
          <p:cNvCxnSpPr>
            <a:cxnSpLocks/>
          </p:cNvCxnSpPr>
          <p:nvPr/>
        </p:nvCxnSpPr>
        <p:spPr>
          <a:xfrm>
            <a:off x="339365" y="914399"/>
            <a:ext cx="11475562"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8F481A7-A444-24D1-D7D7-9E766F666713}"/>
              </a:ext>
            </a:extLst>
          </p:cNvPr>
          <p:cNvSpPr txBox="1"/>
          <p:nvPr/>
        </p:nvSpPr>
        <p:spPr>
          <a:xfrm>
            <a:off x="358219" y="372735"/>
            <a:ext cx="6457360" cy="461665"/>
          </a:xfrm>
          <a:prstGeom prst="rect">
            <a:avLst/>
          </a:prstGeom>
          <a:noFill/>
        </p:spPr>
        <p:txBody>
          <a:bodyPr wrap="square" rtlCol="0">
            <a:spAutoFit/>
          </a:bodyPr>
          <a:lstStyle/>
          <a:p>
            <a:r>
              <a:rPr lang="en-IN" sz="2400" b="1" dirty="0">
                <a:solidFill>
                  <a:srgbClr val="FF0000"/>
                </a:solidFill>
              </a:rPr>
              <a:t>Recommendations</a:t>
            </a:r>
          </a:p>
        </p:txBody>
      </p:sp>
      <p:sp>
        <p:nvSpPr>
          <p:cNvPr id="2" name="TextBox 1">
            <a:extLst>
              <a:ext uri="{FF2B5EF4-FFF2-40B4-BE49-F238E27FC236}">
                <a16:creationId xmlns:a16="http://schemas.microsoft.com/office/drawing/2014/main" id="{0ADD852D-76CF-A887-88B7-F10AD4AF27E1}"/>
              </a:ext>
            </a:extLst>
          </p:cNvPr>
          <p:cNvSpPr txBox="1"/>
          <p:nvPr/>
        </p:nvSpPr>
        <p:spPr>
          <a:xfrm>
            <a:off x="339365" y="1277206"/>
            <a:ext cx="11475562" cy="4401205"/>
          </a:xfrm>
          <a:prstGeom prst="rect">
            <a:avLst/>
          </a:prstGeom>
          <a:noFill/>
        </p:spPr>
        <p:txBody>
          <a:bodyPr wrap="square" rtlCol="0">
            <a:spAutoFit/>
          </a:bodyPr>
          <a:lstStyle/>
          <a:p>
            <a:pPr marL="285750" indent="-285750">
              <a:buFont typeface="Wingdings" panose="05000000000000000000" pitchFamily="2" charset="2"/>
              <a:buChar char="Ø"/>
            </a:pPr>
            <a:r>
              <a:rPr lang="en-IN" sz="1400" dirty="0">
                <a:solidFill>
                  <a:srgbClr val="4472C4"/>
                </a:solidFill>
                <a:latin typeface="Times New Roman" panose="02020603050405020304" pitchFamily="18" charset="0"/>
              </a:rPr>
              <a:t>Better support and customer care could be provided by the business to the customers who might churn.</a:t>
            </a:r>
            <a:br>
              <a:rPr lang="en-IN" sz="1400" dirty="0">
                <a:solidFill>
                  <a:srgbClr val="4472C4"/>
                </a:solidFill>
                <a:latin typeface="Times New Roman" panose="02020603050405020304" pitchFamily="18" charset="0"/>
              </a:rPr>
            </a:br>
            <a:endParaRPr lang="en-IN" sz="1400" dirty="0">
              <a:solidFill>
                <a:srgbClr val="4472C4"/>
              </a:solidFill>
              <a:latin typeface="Times New Roman" panose="02020603050405020304" pitchFamily="18" charset="0"/>
            </a:endParaRPr>
          </a:p>
          <a:p>
            <a:pPr marL="285750" indent="-285750">
              <a:buFont typeface="Wingdings" panose="05000000000000000000" pitchFamily="2" charset="2"/>
              <a:buChar char="Ø"/>
            </a:pPr>
            <a:r>
              <a:rPr lang="en-IN" sz="1400" dirty="0">
                <a:solidFill>
                  <a:srgbClr val="4472C4"/>
                </a:solidFill>
                <a:latin typeface="Times New Roman" panose="02020603050405020304" pitchFamily="18" charset="0"/>
              </a:rPr>
              <a:t>Taking feedbacks from the customers whom the model has predicted to churn might help in reduction of attrition.</a:t>
            </a:r>
            <a:br>
              <a:rPr lang="en-IN" sz="1400" dirty="0">
                <a:solidFill>
                  <a:srgbClr val="4472C4"/>
                </a:solidFill>
                <a:latin typeface="Times New Roman" panose="02020603050405020304" pitchFamily="18" charset="0"/>
              </a:rPr>
            </a:br>
            <a:endParaRPr lang="en-IN" sz="1400" dirty="0">
              <a:solidFill>
                <a:srgbClr val="4472C4"/>
              </a:solidFill>
              <a:latin typeface="Times New Roman" panose="02020603050405020304" pitchFamily="18" charset="0"/>
            </a:endParaRPr>
          </a:p>
          <a:p>
            <a:pPr marL="285750" indent="-285750">
              <a:buFont typeface="Wingdings" panose="05000000000000000000" pitchFamily="2" charset="2"/>
              <a:buChar char="Ø"/>
            </a:pPr>
            <a:r>
              <a:rPr lang="en-IN" sz="1400" dirty="0">
                <a:solidFill>
                  <a:srgbClr val="4472C4"/>
                </a:solidFill>
                <a:latin typeface="Times New Roman" panose="02020603050405020304" pitchFamily="18" charset="0"/>
              </a:rPr>
              <a:t>Provide better offers for the customers whom the model predicts can churn.</a:t>
            </a:r>
            <a:br>
              <a:rPr lang="en-IN" sz="1400" dirty="0">
                <a:solidFill>
                  <a:srgbClr val="4472C4"/>
                </a:solidFill>
                <a:latin typeface="Times New Roman" panose="02020603050405020304" pitchFamily="18" charset="0"/>
              </a:rPr>
            </a:br>
            <a:endParaRPr lang="en-IN" sz="1400" dirty="0">
              <a:solidFill>
                <a:srgbClr val="4472C4"/>
              </a:solidFill>
              <a:latin typeface="Times New Roman" panose="02020603050405020304" pitchFamily="18" charset="0"/>
            </a:endParaRPr>
          </a:p>
          <a:p>
            <a:pPr marL="285750" indent="-285750">
              <a:buFont typeface="Wingdings" panose="05000000000000000000" pitchFamily="2" charset="2"/>
              <a:buChar char="Ø"/>
            </a:pPr>
            <a:r>
              <a:rPr lang="en-IN" sz="1400" dirty="0">
                <a:solidFill>
                  <a:srgbClr val="4472C4"/>
                </a:solidFill>
                <a:latin typeface="Times New Roman" panose="02020603050405020304" pitchFamily="18" charset="0"/>
              </a:rPr>
              <a:t>The organisation could also provide ‘Family Packs’ to the accounts with added benefits.</a:t>
            </a:r>
            <a:br>
              <a:rPr lang="en-IN" sz="1400" dirty="0">
                <a:solidFill>
                  <a:srgbClr val="4472C4"/>
                </a:solidFill>
                <a:latin typeface="Times New Roman" panose="02020603050405020304" pitchFamily="18" charset="0"/>
              </a:rPr>
            </a:br>
            <a:endParaRPr lang="en-IN" sz="1400" dirty="0">
              <a:solidFill>
                <a:srgbClr val="4472C4"/>
              </a:solidFill>
              <a:latin typeface="Times New Roman" panose="02020603050405020304" pitchFamily="18" charset="0"/>
            </a:endParaRPr>
          </a:p>
          <a:p>
            <a:pPr marL="285750" indent="-285750">
              <a:buFont typeface="Wingdings" panose="05000000000000000000" pitchFamily="2" charset="2"/>
              <a:buChar char="Ø"/>
            </a:pPr>
            <a:r>
              <a:rPr lang="en-IN" sz="1400" dirty="0">
                <a:solidFill>
                  <a:srgbClr val="4472C4"/>
                </a:solidFill>
                <a:latin typeface="Times New Roman" panose="02020603050405020304" pitchFamily="18" charset="0"/>
              </a:rPr>
              <a:t>If it’s a DTH service, the organisation can provide entertainment channels most commonly in use for a free trial period or at reduced cost.</a:t>
            </a:r>
            <a:br>
              <a:rPr lang="en-IN" sz="1400" dirty="0">
                <a:solidFill>
                  <a:srgbClr val="4472C4"/>
                </a:solidFill>
                <a:latin typeface="Times New Roman" panose="02020603050405020304" pitchFamily="18" charset="0"/>
              </a:rPr>
            </a:br>
            <a:endParaRPr lang="en-IN" sz="1400" dirty="0">
              <a:solidFill>
                <a:srgbClr val="4472C4"/>
              </a:solidFill>
              <a:latin typeface="Times New Roman" panose="02020603050405020304" pitchFamily="18" charset="0"/>
            </a:endParaRPr>
          </a:p>
          <a:p>
            <a:pPr marL="285750" indent="-285750">
              <a:buFont typeface="Wingdings" panose="05000000000000000000" pitchFamily="2" charset="2"/>
              <a:buChar char="Ø"/>
            </a:pPr>
            <a:r>
              <a:rPr lang="en-IN" sz="1400" dirty="0">
                <a:solidFill>
                  <a:srgbClr val="4472C4"/>
                </a:solidFill>
                <a:latin typeface="Times New Roman" panose="02020603050405020304" pitchFamily="18" charset="0"/>
              </a:rPr>
              <a:t>Try to add more and more customers to a single account and provide good support to that account so that the attrition is hard to happen.</a:t>
            </a:r>
            <a:br>
              <a:rPr lang="en-IN" sz="1400" dirty="0">
                <a:solidFill>
                  <a:srgbClr val="4472C4"/>
                </a:solidFill>
                <a:effectLst/>
                <a:latin typeface="Times New Roman" panose="02020603050405020304" pitchFamily="18" charset="0"/>
                <a:ea typeface="Calibri" panose="020F0502020204030204" pitchFamily="34" charset="0"/>
              </a:rPr>
            </a:br>
            <a:endParaRPr lang="en-IN" sz="1400" dirty="0">
              <a:solidFill>
                <a:srgbClr val="4472C4"/>
              </a:solidFill>
              <a:effectLst/>
              <a:latin typeface="Times New Roman" panose="02020603050405020304" pitchFamily="18" charset="0"/>
              <a:ea typeface="Calibri" panose="020F0502020204030204" pitchFamily="34" charset="0"/>
            </a:endParaRPr>
          </a:p>
          <a:p>
            <a:pPr marL="285750" indent="-285750">
              <a:buFont typeface="Wingdings" panose="05000000000000000000" pitchFamily="2" charset="2"/>
              <a:buChar char="Ø"/>
            </a:pPr>
            <a:r>
              <a:rPr lang="en-IN" sz="1400" dirty="0">
                <a:solidFill>
                  <a:srgbClr val="4472C4"/>
                </a:solidFill>
                <a:latin typeface="Times New Roman" panose="02020603050405020304" pitchFamily="18" charset="0"/>
                <a:ea typeface="Calibri" panose="020F0502020204030204" pitchFamily="34" charset="0"/>
              </a:rPr>
              <a:t>Try to add more accounts from Tier 2 cities.</a:t>
            </a:r>
            <a:br>
              <a:rPr lang="en-IN" sz="1400" dirty="0">
                <a:solidFill>
                  <a:srgbClr val="4472C4"/>
                </a:solidFill>
                <a:latin typeface="Times New Roman" panose="02020603050405020304" pitchFamily="18" charset="0"/>
                <a:ea typeface="Calibri" panose="020F0502020204030204" pitchFamily="34" charset="0"/>
              </a:rPr>
            </a:br>
            <a:endParaRPr lang="en-IN" sz="1400" dirty="0">
              <a:solidFill>
                <a:srgbClr val="4472C4"/>
              </a:solidFill>
              <a:latin typeface="Times New Roman" panose="02020603050405020304" pitchFamily="18" charset="0"/>
              <a:ea typeface="Calibri" panose="020F0502020204030204" pitchFamily="34" charset="0"/>
            </a:endParaRPr>
          </a:p>
          <a:p>
            <a:pPr marL="285750" indent="-285750">
              <a:buFont typeface="Wingdings" panose="05000000000000000000" pitchFamily="2" charset="2"/>
              <a:buChar char="Ø"/>
            </a:pPr>
            <a:r>
              <a:rPr lang="en-IN" sz="1400" dirty="0">
                <a:solidFill>
                  <a:srgbClr val="4472C4"/>
                </a:solidFill>
                <a:effectLst/>
                <a:latin typeface="Times New Roman" panose="02020603050405020304" pitchFamily="18" charset="0"/>
                <a:ea typeface="Calibri" panose="020F0502020204030204" pitchFamily="34" charset="0"/>
              </a:rPr>
              <a:t>Lower tenure accounts shal</a:t>
            </a:r>
            <a:r>
              <a:rPr lang="en-IN" sz="1400" dirty="0">
                <a:solidFill>
                  <a:srgbClr val="4472C4"/>
                </a:solidFill>
                <a:latin typeface="Times New Roman" panose="02020603050405020304" pitchFamily="18" charset="0"/>
                <a:ea typeface="Calibri" panose="020F0502020204030204" pitchFamily="34" charset="0"/>
              </a:rPr>
              <a:t>l be taken care of more as they have high probability of churning. Try to increase the Tenure of accounts more and more.</a:t>
            </a:r>
            <a:br>
              <a:rPr lang="en-IN" sz="1400" dirty="0">
                <a:solidFill>
                  <a:srgbClr val="4472C4"/>
                </a:solidFill>
                <a:latin typeface="Times New Roman" panose="02020603050405020304" pitchFamily="18" charset="0"/>
                <a:ea typeface="Calibri" panose="020F0502020204030204" pitchFamily="34" charset="0"/>
              </a:rPr>
            </a:br>
            <a:endParaRPr lang="en-IN" sz="1400" dirty="0">
              <a:solidFill>
                <a:srgbClr val="4472C4"/>
              </a:solidFill>
              <a:latin typeface="Times New Roman" panose="02020603050405020304" pitchFamily="18" charset="0"/>
              <a:ea typeface="Calibri" panose="020F0502020204030204" pitchFamily="34" charset="0"/>
            </a:endParaRPr>
          </a:p>
          <a:p>
            <a:pPr marL="285750" indent="-285750">
              <a:buFont typeface="Wingdings" panose="05000000000000000000" pitchFamily="2" charset="2"/>
              <a:buChar char="Ø"/>
            </a:pPr>
            <a:r>
              <a:rPr lang="en-IN" sz="1400" dirty="0">
                <a:solidFill>
                  <a:srgbClr val="4472C4"/>
                </a:solidFill>
                <a:latin typeface="Times New Roman" panose="02020603050405020304" pitchFamily="18" charset="0"/>
                <a:ea typeface="Calibri" panose="020F0502020204030204" pitchFamily="34" charset="0"/>
              </a:rPr>
              <a:t>Try to investigate why higher customer number accounts are churning more as compared to low customer number accounts. This should not happen and is a thing to investigate at lengths.</a:t>
            </a:r>
            <a:br>
              <a:rPr lang="en-IN" sz="1400" dirty="0">
                <a:solidFill>
                  <a:srgbClr val="4472C4"/>
                </a:solidFill>
                <a:latin typeface="Times New Roman" panose="02020603050405020304" pitchFamily="18" charset="0"/>
                <a:ea typeface="Calibri" panose="020F0502020204030204" pitchFamily="34" charset="0"/>
              </a:rPr>
            </a:br>
            <a:endParaRPr lang="en-IN" sz="1400" dirty="0">
              <a:solidFill>
                <a:srgbClr val="4472C4"/>
              </a:solidFill>
              <a:latin typeface="Times New Roman" panose="02020603050405020304" pitchFamily="18" charset="0"/>
              <a:ea typeface="Calibri" panose="020F0502020204030204" pitchFamily="34" charset="0"/>
            </a:endParaRPr>
          </a:p>
          <a:p>
            <a:pPr marL="285750" indent="-285750">
              <a:buFont typeface="Wingdings" panose="05000000000000000000" pitchFamily="2" charset="2"/>
              <a:buChar char="Ø"/>
            </a:pPr>
            <a:r>
              <a:rPr lang="en-IN" sz="1400" dirty="0">
                <a:solidFill>
                  <a:srgbClr val="4472C4"/>
                </a:solidFill>
                <a:latin typeface="Times New Roman" panose="02020603050405020304" pitchFamily="18" charset="0"/>
                <a:ea typeface="Calibri" panose="020F0502020204030204" pitchFamily="34" charset="0"/>
              </a:rPr>
              <a:t>Keep a good check on the satisfaction scores given by customers to customer care and service. It plays a vital role in attrition as well.</a:t>
            </a:r>
            <a:endParaRPr lang="en-IN" sz="1400" dirty="0">
              <a:solidFill>
                <a:srgbClr val="4472C4"/>
              </a:solidFill>
              <a:latin typeface="Times New Roman" panose="02020603050405020304" pitchFamily="18" charset="0"/>
            </a:endParaRPr>
          </a:p>
        </p:txBody>
      </p:sp>
    </p:spTree>
    <p:extLst>
      <p:ext uri="{BB962C8B-B14F-4D97-AF65-F5344CB8AC3E}">
        <p14:creationId xmlns:p14="http://schemas.microsoft.com/office/powerpoint/2010/main" val="4166976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04A5ED-559B-F8AD-5D81-D818118EE141}"/>
              </a:ext>
            </a:extLst>
          </p:cNvPr>
          <p:cNvSpPr/>
          <p:nvPr/>
        </p:nvSpPr>
        <p:spPr>
          <a:xfrm>
            <a:off x="4255786" y="2967335"/>
            <a:ext cx="3680431"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Thank You!!</a:t>
            </a:r>
          </a:p>
        </p:txBody>
      </p:sp>
    </p:spTree>
    <p:extLst>
      <p:ext uri="{BB962C8B-B14F-4D97-AF65-F5344CB8AC3E}">
        <p14:creationId xmlns:p14="http://schemas.microsoft.com/office/powerpoint/2010/main" val="3805182181"/>
      </p:ext>
    </p:extLst>
  </p:cSld>
  <p:clrMapOvr>
    <a:masterClrMapping/>
  </p:clrMapOvr>
</p:sld>
</file>

<file path=ppt/theme/theme1.xml><?xml version="1.0" encoding="utf-8"?>
<a:theme xmlns:a="http://schemas.openxmlformats.org/drawingml/2006/main" name="Basi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TM03457444[[fn=Basis]]</Template>
  <TotalTime>4037</TotalTime>
  <Words>2541</Words>
  <Application>Microsoft Office PowerPoint</Application>
  <PresentationFormat>Widescreen</PresentationFormat>
  <Paragraphs>155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Corbel</vt:lpstr>
      <vt:lpstr>Times New Roman</vt:lpstr>
      <vt:lpstr>Wingdings</vt:lpstr>
      <vt:lpstr>Basis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Vaibhav Shankdhar</dc:creator>
  <cp:lastModifiedBy>vaibhav.shankdhar0602@gmail.com</cp:lastModifiedBy>
  <cp:revision>38</cp:revision>
  <dcterms:created xsi:type="dcterms:W3CDTF">2022-07-26T15:06:00Z</dcterms:created>
  <dcterms:modified xsi:type="dcterms:W3CDTF">2026-03-19T16:06:39Z</dcterms:modified>
</cp:coreProperties>
</file>